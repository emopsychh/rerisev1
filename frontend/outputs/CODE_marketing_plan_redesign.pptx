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687fd44467496a" /><Relationship Type="http://schemas.openxmlformats.org/officeDocument/2006/relationships/extended-properties" Target="/docProps/app.xml" Id="R74792590c7ae4dbc" /><Relationship Type="http://schemas.openxmlformats.org/officeDocument/2006/relationships/officeDocument" Target="/ppt/presentation.xml" Id="R58f3b7a5036542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7d241c237d40ee"/>
  </p:sldMasterIdLst>
  <p:notesMasterIdLst>
    <p:notesMasterId xmlns:r="http://schemas.openxmlformats.org/officeDocument/2006/relationships" r:id="R1463d66f7a634fc2"/>
  </p:notesMasterIdLst>
  <p:sldIdLst>
    <p:sldId xmlns:r="http://schemas.openxmlformats.org/officeDocument/2006/relationships" id="256" r:id="R8bfd72b0ccf0478f"/>
    <p:sldId xmlns:r="http://schemas.openxmlformats.org/officeDocument/2006/relationships" id="257" r:id="R7f0542685cf6457d"/>
    <p:sldId xmlns:r="http://schemas.openxmlformats.org/officeDocument/2006/relationships" id="258" r:id="Rae7b2df3d9a541ed"/>
    <p:sldId xmlns:r="http://schemas.openxmlformats.org/officeDocument/2006/relationships" id="259" r:id="Re2f8ca8899894e5d"/>
    <p:sldId xmlns:r="http://schemas.openxmlformats.org/officeDocument/2006/relationships" id="260" r:id="Rb4c6e99915e84df1"/>
    <p:sldId xmlns:r="http://schemas.openxmlformats.org/officeDocument/2006/relationships" id="261" r:id="R5118bb39a94d4351"/>
    <p:sldId xmlns:r="http://schemas.openxmlformats.org/officeDocument/2006/relationships" id="262" r:id="Rbb1d0098d6f743f8"/>
    <p:sldId xmlns:r="http://schemas.openxmlformats.org/officeDocument/2006/relationships" id="263" r:id="R069a3a841d0b4ba3"/>
    <p:sldId xmlns:r="http://schemas.openxmlformats.org/officeDocument/2006/relationships" id="264" r:id="R6968e7a920184d9d"/>
    <p:sldId xmlns:r="http://schemas.openxmlformats.org/officeDocument/2006/relationships" id="265" r:id="Re3da54f443074eda"/>
    <p:sldId xmlns:r="http://schemas.openxmlformats.org/officeDocument/2006/relationships" id="266" r:id="R537880516c084c7d"/>
    <p:sldId xmlns:r="http://schemas.openxmlformats.org/officeDocument/2006/relationships" id="267" r:id="R12ab3e338a16407d"/>
    <p:sldId xmlns:r="http://schemas.openxmlformats.org/officeDocument/2006/relationships" id="268" r:id="Rda86f5ec3c074a62"/>
    <p:sldId xmlns:r="http://schemas.openxmlformats.org/officeDocument/2006/relationships" id="269" r:id="R7cfdebac317a42d1"/>
    <p:sldId xmlns:r="http://schemas.openxmlformats.org/officeDocument/2006/relationships" id="270" r:id="Ra6f032aa434d432b"/>
    <p:sldId xmlns:r="http://schemas.openxmlformats.org/officeDocument/2006/relationships" id="271" r:id="R162f9d695baf479c"/>
    <p:sldId xmlns:r="http://schemas.openxmlformats.org/officeDocument/2006/relationships" id="272" r:id="R39181df1e893431e"/>
    <p:sldId xmlns:r="http://schemas.openxmlformats.org/officeDocument/2006/relationships" id="273" r:id="R3c7e0373bdde4b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b04041fbdb4156" /><Relationship Type="http://schemas.openxmlformats.org/officeDocument/2006/relationships/slideMaster" Target="/ppt/slideMasters/slideMaster1.xml" Id="Rdb7d241c237d40ee" /><Relationship Type="http://schemas.openxmlformats.org/officeDocument/2006/relationships/notesMaster" Target="/ppt/notesMasters/notesMaster1.xml" Id="R1463d66f7a634fc2" /><Relationship Type="http://schemas.openxmlformats.org/officeDocument/2006/relationships/presProps" Target="/ppt/presProps.xml" Id="Rdaa70436400743c9" /><Relationship Type="http://schemas.openxmlformats.org/officeDocument/2006/relationships/tableStyles" Target="/ppt/tableStyles.xml" Id="Rce04aef2b21b4b07" /><Relationship Type="http://schemas.openxmlformats.org/officeDocument/2006/relationships/slide" Target="/ppt/slides/slide1.xml" Id="R8bfd72b0ccf0478f" /><Relationship Type="http://schemas.openxmlformats.org/officeDocument/2006/relationships/slide" Target="/ppt/slides/slide2.xml" Id="R7f0542685cf6457d" /><Relationship Type="http://schemas.openxmlformats.org/officeDocument/2006/relationships/slide" Target="/ppt/slides/slide3.xml" Id="Rae7b2df3d9a541ed" /><Relationship Type="http://schemas.openxmlformats.org/officeDocument/2006/relationships/slide" Target="/ppt/slides/slide4.xml" Id="Re2f8ca8899894e5d" /><Relationship Type="http://schemas.openxmlformats.org/officeDocument/2006/relationships/slide" Target="/ppt/slides/slide5.xml" Id="Rb4c6e99915e84df1" /><Relationship Type="http://schemas.openxmlformats.org/officeDocument/2006/relationships/slide" Target="/ppt/slides/slide6.xml" Id="R5118bb39a94d4351" /><Relationship Type="http://schemas.openxmlformats.org/officeDocument/2006/relationships/slide" Target="/ppt/slides/slide7.xml" Id="Rbb1d0098d6f743f8" /><Relationship Type="http://schemas.openxmlformats.org/officeDocument/2006/relationships/slide" Target="/ppt/slides/slide8.xml" Id="R069a3a841d0b4ba3" /><Relationship Type="http://schemas.openxmlformats.org/officeDocument/2006/relationships/slide" Target="/ppt/slides/slide9.xml" Id="R6968e7a920184d9d" /><Relationship Type="http://schemas.openxmlformats.org/officeDocument/2006/relationships/slide" Target="/ppt/slides/slide10.xml" Id="Re3da54f443074eda" /><Relationship Type="http://schemas.openxmlformats.org/officeDocument/2006/relationships/slide" Target="/ppt/slides/slide11.xml" Id="R537880516c084c7d" /><Relationship Type="http://schemas.openxmlformats.org/officeDocument/2006/relationships/slide" Target="/ppt/slides/slide12.xml" Id="R12ab3e338a16407d" /><Relationship Type="http://schemas.openxmlformats.org/officeDocument/2006/relationships/slide" Target="/ppt/slides/slide13.xml" Id="Rda86f5ec3c074a62" /><Relationship Type="http://schemas.openxmlformats.org/officeDocument/2006/relationships/slide" Target="/ppt/slides/slide14.xml" Id="R7cfdebac317a42d1" /><Relationship Type="http://schemas.openxmlformats.org/officeDocument/2006/relationships/slide" Target="/ppt/slides/slide15.xml" Id="Ra6f032aa434d432b" /><Relationship Type="http://schemas.openxmlformats.org/officeDocument/2006/relationships/slide" Target="/ppt/slides/slide16.xml" Id="R162f9d695baf479c" /><Relationship Type="http://schemas.openxmlformats.org/officeDocument/2006/relationships/slide" Target="/ppt/slides/slide17.xml" Id="R39181df1e893431e" /><Relationship Type="http://schemas.openxmlformats.org/officeDocument/2006/relationships/slide" Target="/ppt/slides/slide18.xml" Id="R3c7e0373bdde4b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d88aa6ed5848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879f4f6c8144c4" /><Relationship Type="http://schemas.openxmlformats.org/officeDocument/2006/relationships/notesMaster" Target="/ppt/notesMasters/notesMaster1.xml" Id="Re96ee245cd9945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76685251cd410f" /><Relationship Type="http://schemas.openxmlformats.org/officeDocument/2006/relationships/notesMaster" Target="/ppt/notesMasters/notesMaster1.xml" Id="R0d8c594185924f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83f7719fb740f8" /><Relationship Type="http://schemas.openxmlformats.org/officeDocument/2006/relationships/notesMaster" Target="/ppt/notesMasters/notesMaster1.xml" Id="R850bc56bc57a4c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a5102442904e70" /><Relationship Type="http://schemas.openxmlformats.org/officeDocument/2006/relationships/notesMaster" Target="/ppt/notesMasters/notesMaster1.xml" Id="R5af693628c9844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20f34f54164fb0" /><Relationship Type="http://schemas.openxmlformats.org/officeDocument/2006/relationships/notesMaster" Target="/ppt/notesMasters/notesMaster1.xml" Id="R893ac91cfcf34a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5ffb72a10542da" /><Relationship Type="http://schemas.openxmlformats.org/officeDocument/2006/relationships/notesMaster" Target="/ppt/notesMasters/notesMaster1.xml" Id="R348a4659798e42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cd63e61c6c497a" /><Relationship Type="http://schemas.openxmlformats.org/officeDocument/2006/relationships/notesMaster" Target="/ppt/notesMasters/notesMaster1.xml" Id="Rd0cde2e3937c4a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6d425d0834470c" /><Relationship Type="http://schemas.openxmlformats.org/officeDocument/2006/relationships/notesMaster" Target="/ppt/notesMasters/notesMaster1.xml" Id="R97e9a74c9aab4a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7ad0f2ef654014" /><Relationship Type="http://schemas.openxmlformats.org/officeDocument/2006/relationships/notesMaster" Target="/ppt/notesMasters/notesMaster1.xml" Id="R209add4673f545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8ef0fd920248ed" /><Relationship Type="http://schemas.openxmlformats.org/officeDocument/2006/relationships/notesMaster" Target="/ppt/notesMasters/notesMaster1.xml" Id="R3f2ace7b63144c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c94efe9c744213" /><Relationship Type="http://schemas.openxmlformats.org/officeDocument/2006/relationships/notesMaster" Target="/ppt/notesMasters/notesMaster1.xml" Id="Rddaf7b5008eb49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4a2b573182444e" /><Relationship Type="http://schemas.openxmlformats.org/officeDocument/2006/relationships/notesMaster" Target="/ppt/notesMasters/notesMaster1.xml" Id="Rfb177eb8a4964e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e916e079b248b5" /><Relationship Type="http://schemas.openxmlformats.org/officeDocument/2006/relationships/notesMaster" Target="/ppt/notesMasters/notesMaster1.xml" Id="Ra3580e12e9fa48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bedff924774ff0" /><Relationship Type="http://schemas.openxmlformats.org/officeDocument/2006/relationships/notesMaster" Target="/ppt/notesMasters/notesMaster1.xml" Id="R6eab34f980d44e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8c98166de14798" /><Relationship Type="http://schemas.openxmlformats.org/officeDocument/2006/relationships/notesMaster" Target="/ppt/notesMasters/notesMaster1.xml" Id="R3bcfd93095d84e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87f16c29734914" /><Relationship Type="http://schemas.openxmlformats.org/officeDocument/2006/relationships/notesMaster" Target="/ppt/notesMasters/notesMaster1.xml" Id="Rd9d121e102974a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fb8345f0a54625" /><Relationship Type="http://schemas.openxmlformats.org/officeDocument/2006/relationships/notesMaster" Target="/ppt/notesMasters/notesMaster1.xml" Id="R1635a39ac14e4c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b787738fb6427a" /><Relationship Type="http://schemas.openxmlformats.org/officeDocument/2006/relationships/notesMaster" Target="/ppt/notesMasters/notesMaster1.xml" Id="Re569ee167dd448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c3259a6114f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638c41183f4df7" /><Relationship Type="http://schemas.openxmlformats.org/officeDocument/2006/relationships/slideLayout" Target="/ppt/slideLayouts/slideLayout1.xml" Id="Rc4a1cefb98824c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a1cefb98824c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209ba078a4a24" /><Relationship Type="http://schemas.openxmlformats.org/officeDocument/2006/relationships/notesSlide" Target="/ppt/notesSlides/notesSlide1.xml" Id="R54d50a14fd1b43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c8fb6665141e3" /><Relationship Type="http://schemas.openxmlformats.org/officeDocument/2006/relationships/notesSlide" Target="/ppt/notesSlides/notesSlide2.xml" Id="R73fa4361e11440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4b06be8e245f8" /><Relationship Type="http://schemas.openxmlformats.org/officeDocument/2006/relationships/notesSlide" Target="/ppt/notesSlides/notesSlide3.xml" Id="R4a14856a80444a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89befb30b4329" /><Relationship Type="http://schemas.openxmlformats.org/officeDocument/2006/relationships/notesSlide" Target="/ppt/notesSlides/notesSlide4.xml" Id="Rd6b4a6c202fb40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6935ec18947d1" /><Relationship Type="http://schemas.openxmlformats.org/officeDocument/2006/relationships/notesSlide" Target="/ppt/notesSlides/notesSlide5.xml" Id="R3d8dbda166e444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78bbca6ec4cfc" /><Relationship Type="http://schemas.openxmlformats.org/officeDocument/2006/relationships/notesSlide" Target="/ppt/notesSlides/notesSlide6.xml" Id="Rd9b00aec0aaa44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09dd47b234164" /><Relationship Type="http://schemas.openxmlformats.org/officeDocument/2006/relationships/notesSlide" Target="/ppt/notesSlides/notesSlide7.xml" Id="R2d54f083c2ce42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f07bd851b4023" /><Relationship Type="http://schemas.openxmlformats.org/officeDocument/2006/relationships/notesSlide" Target="/ppt/notesSlides/notesSlide8.xml" Id="Ra4deae73a71544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9980c79134712" /><Relationship Type="http://schemas.openxmlformats.org/officeDocument/2006/relationships/notesSlide" Target="/ppt/notesSlides/notesSlide9.xml" Id="R7656fabe90f34d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a9419de614919" /><Relationship Type="http://schemas.openxmlformats.org/officeDocument/2006/relationships/notesSlide" Target="/ppt/notesSlides/notesSlide10.xml" Id="Rd161da71a2634f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4bdea5a0d444b" /><Relationship Type="http://schemas.openxmlformats.org/officeDocument/2006/relationships/notesSlide" Target="/ppt/notesSlides/notesSlide11.xml" Id="R7bc1a59446a047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394e56847496f" /><Relationship Type="http://schemas.openxmlformats.org/officeDocument/2006/relationships/notesSlide" Target="/ppt/notesSlides/notesSlide12.xml" Id="R49c3d651f1224f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9344fbcc74074" /><Relationship Type="http://schemas.openxmlformats.org/officeDocument/2006/relationships/notesSlide" Target="/ppt/notesSlides/notesSlide13.xml" Id="R1ed29ddd1aa34a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f58d067594730" /><Relationship Type="http://schemas.openxmlformats.org/officeDocument/2006/relationships/notesSlide" Target="/ppt/notesSlides/notesSlide14.xml" Id="R08a9404504214b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a5ecaf1ba4e15" /><Relationship Type="http://schemas.openxmlformats.org/officeDocument/2006/relationships/notesSlide" Target="/ppt/notesSlides/notesSlide15.xml" Id="R41bc26f8e50549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76ef6db5f486a" /><Relationship Type="http://schemas.openxmlformats.org/officeDocument/2006/relationships/notesSlide" Target="/ppt/notesSlides/notesSlide16.xml" Id="R281de2e456dc4a6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6c47dcee44cfc" /><Relationship Type="http://schemas.openxmlformats.org/officeDocument/2006/relationships/notesSlide" Target="/ppt/notesSlides/notesSlide17.xml" Id="Ra31e05d40ab7444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c022f890e44b9" /><Relationship Type="http://schemas.openxmlformats.org/officeDocument/2006/relationships/notesSlide" Target="/ppt/notesSlides/notesSlide18.xml" Id="R48ca94568d2848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272A0C-5007-4F32-A028-DAF296D0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46820-83CB-4EC8-BA9D-8404C6B6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E8609-D3F3-4AEE-B0E3-FB1E44A3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0AC97-AA20-435B-997C-ADFEF81D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DD7FD-5E16-4DDF-8FC6-DE43886B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01CA9-A4C6-44EE-BC6B-AE330A3B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6FD6C-2BB6-491C-B990-16759E50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769C5-F205-4F69-BD32-793D6436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BA267-117A-47DB-A384-7A3593C3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00356-B9C7-4496-BBA3-84B14834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7AB51-FBD4-4637-A82E-CAC31F5B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CB668-E992-44A0-8641-BF1655E3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FAAA1-94E7-437D-A723-96111E83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2D81E-35BF-4718-9AFF-08F16E6E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4139B-1015-4ECF-830C-70CD9A66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5567C-989C-4B88-81C9-EF0EE779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1048A-5EBB-4042-A2E3-CA9BAA5E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4474C-966B-45E3-9AF5-713DC2CF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444EF-F35C-4F98-BC49-29AA1439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39B5E-3025-425E-AE13-F930FA6A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C1B2D8-5B23-47DF-A543-8D43911D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F81D65-C7E7-4760-851F-C7DCD9C6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A2A1E5-C15C-46AA-8B9E-8550F52A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205050-CE36-4193-A39A-F40BAF96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EDAEB-26D1-4D92-9333-D65A548E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3BD20F-B411-4854-AEE8-C2214D3B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8E2EB-E219-41C4-B5AA-FA6725C5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C12C49-172F-4378-A144-BF7420E9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511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2DDB8C-8624-4675-A74A-B9F1C2E6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86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Версия 2.0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2009B4-B11E-4887-A318-4CCD2C80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FFFFF"/>
                </a:solidFill>
              </a:defRPr>
            </a:pPr>
            <a:r>
              <a:rPr sz="645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EB8986-E5AB-4056-99D8-C9DA6572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FBF7"/>
                </a:solidFill>
              </a:defRPr>
            </a:pPr>
            <a:r>
              <a:rPr sz="3150" b="1">
                <a:solidFill>
                  <a:srgbClr val="F5FBF7"/>
                </a:solidFill>
              </a:rPr>
              <a:t>Маркетинг-план и финмодель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68E743-6CC2-436D-9589-1689CF85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07983F-EA27-4BF0-8C8D-9EA187F8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D7E0DC"/>
                </a:solidFill>
              </a:defRPr>
            </a:pPr>
            <a:r>
              <a:rPr sz="2025">
                <a:solidFill>
                  <a:srgbClr val="D7E0DC"/>
                </a:solidFill>
              </a:rPr>
              <a:t>Чёткая структура выплат, статусов и командной механики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B9CA37-E4C7-4257-9689-57CFDBF2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343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90E96E-5505-439D-9327-7B79127D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10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62DCD7-1EEB-4A65-A33D-68BB6BDC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62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пакет PRO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27378E-1576-4E60-900A-CAB293AE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76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$300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BD7C42-B947-45C5-B3B5-A04AAF09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389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основной вход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E34E01-B4EB-42D9-B96B-E2988614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72125"/>
            <a:ext cx="2343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89FC20-850A-48DC-BB37-32ABC779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810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6C6609-E22A-4625-AE0C-1F89F895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62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личный бонус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EF3533-F777-47CE-804B-6B4F7B11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076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$90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86650D-BDB1-42D0-9B9D-C00FE8E9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4389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наставнику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87C1E7-97F7-433C-ADEA-EDC1EE0F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72125"/>
            <a:ext cx="2343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D14C3A-E7E6-4C70-97D3-A61DA88B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0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BCAF8B-7BD1-4969-8474-06EAEE73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762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командный объём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2A9DBB-FCC4-4D0F-80AF-02AE46E5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76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10 PV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6E09B8-5A4A-41DF-ADCE-C07A97AF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 бинар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4273FF-B344-4179-B716-7670ABA7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72125"/>
            <a:ext cx="2343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BB6679-E928-4761-BF82-14B22D4E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810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80D26F-929C-402F-8F28-BE9FBDB5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762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развитие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8BB65A-AD17-434B-931A-A43BA31D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076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5 линий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3C68DB-2724-4FD8-B00C-88BAD7D3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4389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по 5%</a:t>
            </a:r>
          </a:p>
        </p:txBody>
      </p:sp>
    </p:spTree>
    <p:extLst>
      <p:ext uri="{BB962C8B-B14F-4D97-AF65-F5344CB8AC3E}">
        <p14:creationId xmlns:p14="http://schemas.microsoft.com/office/powerpoint/2010/main" val="1689545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B22C53-10B0-49E1-AF40-96DA8001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5CE43-21EC-4104-A1E2-94EA5234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4071F-42C7-426C-B706-7C363F14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A132D-5589-4BFC-828E-089510D5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224E2-083B-4E9E-9860-7E3B37FF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4038A-D5BB-4ED6-A7C6-25139F7F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8E178-9561-44C0-9B58-D0C33503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5E15E-F16A-43F9-8BE3-F39811ED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7E6BA-4A3D-461B-A626-AB858F72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КАРТА ПРЕЗЕНТАЦИИ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F37DD-67CF-4D62-AAC8-38466008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Как устроена экономика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09327-5879-42F7-9ACE-0EBB0A9C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66850"/>
            <a:ext cx="847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7E0DC"/>
                </a:solidFill>
              </a:defRPr>
            </a:pPr>
            <a:r>
              <a:rPr sz="1575">
                <a:solidFill>
                  <a:srgbClr val="D7E0DC"/>
                </a:solidFill>
              </a:rPr>
              <a:t>Презентация собрана как навигационная модель: сначала вход и начисления, затем командная механика, правила контроля и стресс-тест выплат.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6DD61-1924-4782-9960-1250DBC5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81250"/>
            <a:ext cx="2724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82AC2-28A7-458E-87C9-B64823D3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F34F"/>
                </a:solidFill>
              </a:defRPr>
            </a:pPr>
            <a:r>
              <a:rPr sz="1200" b="1">
                <a:solidFill>
                  <a:srgbClr val="7DF34F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FB494-515B-4EBA-A957-BDEBCECC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52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Тарифы и вход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24B65-9A73-4E6B-AFB5-FC6910D3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05125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CODE, PRO, VIP и подписка активности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9D100-0433-43CC-A6E3-CF201CB9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1250"/>
            <a:ext cx="2724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48F03-9317-46C2-951F-CD95EC8D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F34F"/>
                </a:solidFill>
              </a:defRPr>
            </a:pPr>
            <a:r>
              <a:rPr sz="1200" b="1">
                <a:solidFill>
                  <a:srgbClr val="7DF34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D0FC4-4F81-4C4D-8C26-962549E7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52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Начисления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6C30D-FB6D-4B0D-9500-BF355026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05125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личный бонус, PV и движение по структуре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2971C-E70E-4489-8C84-6CCB5C96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2724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5C73B-57CB-45D3-9096-C0E1B738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F34F"/>
                </a:solidFill>
              </a:defRPr>
            </a:pPr>
            <a:r>
              <a:rPr sz="1200" b="1">
                <a:solidFill>
                  <a:srgbClr val="7DF34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5BBC4A-9A11-42B2-9231-B4FBBAAC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52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Командный баланс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3BB5F-07C5-49F0-B3CB-6A174ADC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05125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схлопнутый объём левой и правой ноги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7C3EA-EE6D-43B6-9A87-B55E2C09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724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BD6451-5068-4EAC-B8CA-3CD04537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F34F"/>
                </a:solidFill>
              </a:defRPr>
            </a:pPr>
            <a:r>
              <a:rPr sz="1200" b="1">
                <a:solidFill>
                  <a:srgbClr val="7DF34F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D09100-29D8-45ED-B74B-C40DE71D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76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Развитие и статусы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41FD4-5B88-4477-96B7-3D4E3B6A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29125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быстрый старт, карьера и фонды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808584-2FB4-4116-9713-421CA6AE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2724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FC3D16-2B89-4D83-B497-66B5CB05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95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F34F"/>
                </a:solidFill>
              </a:defRPr>
            </a:pPr>
            <a:r>
              <a:rPr sz="1200" b="1">
                <a:solidFill>
                  <a:srgbClr val="7DF34F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25D973-1BBD-4961-ABEF-A60EED45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76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Правила выплат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7B966D-2794-48A2-891F-AB771C79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29125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холд, возвраты, верификация и антифрод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7E6B1B-8FF9-4BA9-A2D9-14E69936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2724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4D2C90-363A-491B-85CB-E8DF044D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F34F"/>
                </a:solidFill>
              </a:defRPr>
            </a:pPr>
            <a:r>
              <a:rPr sz="1200" b="1">
                <a:solidFill>
                  <a:srgbClr val="7DF34F"/>
                </a:solidFill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CADFD8-D6CF-4407-8645-4581B642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76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Финмодель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26B135-793A-48D8-AF2C-3EFE2499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29125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контрольный сценарий и доля выплат</a:t>
            </a:r>
          </a:p>
        </p:txBody>
      </p:sp>
    </p:spTree>
    <p:extLst>
      <p:ext uri="{BB962C8B-B14F-4D97-AF65-F5344CB8AC3E}">
        <p14:creationId xmlns:p14="http://schemas.microsoft.com/office/powerpoint/2010/main" val="553030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825457-1194-44D1-99D8-5FFD72CC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7E68A-2804-4C24-9F24-0C7042EB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91C0B-B2FD-4688-8891-6CF12921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21C22-3E8B-4DEF-B740-2A50D909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3A2D2-7131-47CE-91F4-8B36597A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15CCA-4C3F-4F63-B61D-38D9397C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54860-C345-488B-BF55-9D470709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07E6A-4AB8-49C2-8E77-1F72B4EF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DBEFB-F160-406E-992E-E388FB70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ТАРИФЫ И ПРОДУКТОВАЯ ЛИНЕЙКА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F7EA9-9E6F-4029-B5C2-F22516C5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Четыре варианта входа закрывают разные роли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4CE7E-1010-47E8-A78B-D8B08A5C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62150"/>
            <a:ext cx="2076450" cy="32385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033AB-9CD7-4096-949A-CF41774B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2C831-70DC-46AE-B184-B03A8136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812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568E3-08A6-42B6-8109-A05C8BE7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62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5FBF7"/>
                </a:solidFill>
              </a:defRPr>
            </a:pPr>
            <a:r>
              <a:rPr sz="2925" b="1">
                <a:solidFill>
                  <a:srgbClr val="F5FBF7"/>
                </a:solidFill>
              </a:rPr>
              <a:t>$50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B7DB2-D0A3-4579-8798-067C6D62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/ месяц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E9D9E-E01A-49B0-84C9-8CECBA77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718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Базовый доступ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5B865-5255-49E8-B4B6-E53A26F2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E7198-CB39-4738-9C9C-8060EE3B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19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ограниченные курсы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64C3E-2C13-4C51-820F-C152AA8C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454811-5888-4ACA-A6B9-84ACB89F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43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базовые AI-токены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D1A8F4-D5FF-4767-B94C-2FFDEEFC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BFC2E-46D8-4EA4-8B92-73534544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67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без партнёрской программы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3AEB4F-7B17-4AA3-8642-C9AD3ECF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62150"/>
            <a:ext cx="2076450" cy="32385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83123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F0218F-708C-41D2-8548-B9AC15AF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04129D-3EAE-4C68-AB6D-192A189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812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PRO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7D11CE-871A-4180-B7E3-0753222A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5FBF7"/>
                </a:solidFill>
              </a:defRPr>
            </a:pPr>
            <a:r>
              <a:rPr sz="2925" b="1">
                <a:solidFill>
                  <a:srgbClr val="F5FBF7"/>
                </a:solidFill>
              </a:rPr>
              <a:t>$300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69D095-B4AB-41C4-8976-4F3CB75D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1FE457-DD84-41FA-AA09-F9935E5D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Основной партнёрский пакет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8A0D06-8DBF-4E99-8788-4CAC8865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AE2DBB-A601-4898-9063-3E721BB3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19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полный доступ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213641-C2CD-4DB6-8CD9-978DF7D7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00E3C8-BCC7-4E52-AF81-0FB0CA4F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43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партнёрская программа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54D7D4-76AB-404E-AFF7-6E78E9E4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4C3690-6047-4418-A059-5A94C369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67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структура и выплаты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CBA2D7-A2F6-494E-821B-191E5D74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2076450" cy="32385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B8C2C3-541E-421B-AEAC-A2C8C800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7F1B04-9084-4C92-B14B-42162837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812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VIP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729DC5-B845-442C-B4A9-509A7ED2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62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5FBF7"/>
                </a:solidFill>
              </a:defRPr>
            </a:pPr>
            <a:r>
              <a:rPr sz="2925" b="1">
                <a:solidFill>
                  <a:srgbClr val="F5FBF7"/>
                </a:solidFill>
              </a:rPr>
              <a:t>$900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1D290B-7F50-4628-9245-5CD5D899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146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29363D-F2F3-4A37-8633-D9410DD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718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Расширенный пакет на 12 месяцев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5B7424-FC66-4898-A837-513F0A82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B1EC36-FB94-40F8-BBBE-C2019877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19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всё из PRO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19A8C6-F25E-46DF-B3FF-900F9484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253239-1A73-4C32-A42C-66900746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43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12 месяцев активности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16BC35-1529-4608-95E7-7DDA62C8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7C7F5E-9E02-44AA-BD9A-C3189C73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67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расширенные возможности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BA1B6E-C7BF-41F8-B17E-E7AE5442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62150"/>
            <a:ext cx="2076450" cy="32385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C0E2BC-2072-4958-BB9B-E34919A5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919B9B-8684-4211-B4EE-860D0436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812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Подписка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40DE0F-DA4F-4B22-A057-AA5625C8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62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5FBF7"/>
                </a:solidFill>
              </a:defRPr>
            </a:pPr>
            <a:r>
              <a:rPr sz="2925" b="1">
                <a:solidFill>
                  <a:srgbClr val="F5FBF7"/>
                </a:solidFill>
              </a:rPr>
              <a:t>$50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AA156C-2275-4169-AF6E-0694020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146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/ месяц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36D3A0-2D10-45C2-81C9-E3ECD035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Продление активности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05F06E-2127-4495-9E46-8F10B358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048A14-DCB0-4F2B-ADA7-0CDF9AE7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9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со 2-го месяца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993568-3E9F-4077-A321-F21F3648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F457F2-EED1-4EF2-AEE1-52C2DB6E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43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сохраняет активность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B19062-F957-469E-A272-E5F9453D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23AA9D-DEC9-4BB2-B8DD-203C327D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67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участие в начислениях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33878AC-1BB7-441C-BA31-EB6BF626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769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Все расчёты внутри модели ведутся в USD. Оплаты и выплаты можно технически привязывать к USDT.</a:t>
            </a:r>
          </a:p>
        </p:txBody>
      </p:sp>
    </p:spTree>
    <p:extLst>
      <p:ext uri="{BB962C8B-B14F-4D97-AF65-F5344CB8AC3E}">
        <p14:creationId xmlns:p14="http://schemas.microsoft.com/office/powerpoint/2010/main" val="1036146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8110BB-92D6-496D-A7F4-26D7C776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A6340-5ED4-4A30-9F0D-18622113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09F4E-CFCC-4623-B7A5-FF5A51D4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59652-31DA-4A42-A63E-DE6C872C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1D677-9FDF-45D4-B7F3-4C48941C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01B8E-4C91-4804-A03B-256B569F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E4461-689B-45B6-864E-264ECB1C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D3068-23BD-4EC3-9000-B5E01753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D59E8-F0EB-43E7-99EE-5468733E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КАК НАЧИСЛЯЮТСЯ ДЕНЬГИ И PV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C9261-9689-447F-B809-4CB2A592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Каждый тариф создаёт две сущности: деньги и PV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C0580-5BF8-461F-A1D1-EC0E8DA6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52625"/>
            <a:ext cx="2076450" cy="26860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8BD4A-4DD7-4253-9D89-E2E383D0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52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CD6FF"/>
                </a:solidFill>
              </a:defRPr>
            </a:pPr>
            <a:r>
              <a:rPr sz="1575" b="1">
                <a:solidFill>
                  <a:srgbClr val="4CD6FF"/>
                </a:solidFill>
              </a:rPr>
              <a:t>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005AB-2DE7-415F-B880-7D388A71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28900"/>
            <a:ext cx="1657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FDCD4-0F6C-4A55-90EF-45383EB1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670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09759-EC0D-4154-BBBF-E7F01FAF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194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цена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8B69C-9796-4F5B-BAB5-6D7C015B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337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EDC96-C576-4853-BAFC-A66ABB18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BF7"/>
                </a:solidFill>
              </a:defRPr>
            </a:pPr>
            <a:r>
              <a:rPr sz="1425" b="1">
                <a:solidFill>
                  <a:srgbClr val="F5FBF7"/>
                </a:solidFill>
              </a:rPr>
              <a:t>$10 наставнику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BC080-F378-426B-ADAF-737F47B2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38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1 PV в структуру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7A515-FDEA-45E4-BB72-3D7F2CB6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52625"/>
            <a:ext cx="2076450" cy="26860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9E91A-FCA5-49BA-A39A-CC50161F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DF34F"/>
                </a:solidFill>
              </a:defRPr>
            </a:pPr>
            <a:r>
              <a:rPr sz="1575" b="1">
                <a:solidFill>
                  <a:srgbClr val="7DF34F"/>
                </a:solidFill>
              </a:rPr>
              <a:t>PRO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36168D-13F3-4A76-9602-84CF47AA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1657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B567BE-D2EE-48ED-AAD2-A0868A3A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670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3F73D-12CD-4205-90BC-F4871C07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194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цена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A60065-C4B4-43F0-B826-50E98CA1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337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$300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0F59E-3B1E-4E2B-9DC1-66ACF488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BF7"/>
                </a:solidFill>
              </a:defRPr>
            </a:pPr>
            <a:r>
              <a:rPr sz="1425" b="1">
                <a:solidFill>
                  <a:srgbClr val="F5FBF7"/>
                </a:solidFill>
              </a:rPr>
              <a:t>$90 наставнику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A7C32C-DC35-4D9E-8A22-F7D6352A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38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10 PV в структуру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95E504-407A-444B-B99E-4CE2227F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076450" cy="26860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592A2-F182-4EA7-9784-E62C55CD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52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D166"/>
                </a:solidFill>
              </a:defRPr>
            </a:pPr>
            <a:r>
              <a:rPr sz="1575" b="1">
                <a:solidFill>
                  <a:srgbClr val="FFD166"/>
                </a:solidFill>
              </a:rPr>
              <a:t>VIP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91D737-CF43-4140-B108-FB3FB8EA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28900"/>
            <a:ext cx="1657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4B6A16-3E04-42D5-96EE-03C2D5E9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670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3B97D8-825D-40AB-8BA6-2EDC9257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194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цена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ABB3E4-DC2D-48BA-A56F-EA77CD9F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337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$900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6899EC-CBA9-45E7-BE8F-2F8CFD3A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05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BF7"/>
                </a:solidFill>
              </a:defRPr>
            </a:pPr>
            <a:r>
              <a:rPr sz="1425" b="1">
                <a:solidFill>
                  <a:srgbClr val="F5FBF7"/>
                </a:solidFill>
              </a:rPr>
              <a:t>$270 наставнику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22A6D3-AA47-4B35-8977-465D211E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38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30 PV в структуру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6A4390-F426-434D-B024-6F497C43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52625"/>
            <a:ext cx="2076450" cy="26860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91A3BC-7134-4964-8D4D-D640BA09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52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E8CFF"/>
                </a:solidFill>
              </a:defRPr>
            </a:pPr>
            <a:r>
              <a:rPr sz="1575" b="1">
                <a:solidFill>
                  <a:srgbClr val="5E8CFF"/>
                </a:solidFill>
              </a:rPr>
              <a:t>Подписка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8F8280-D6DB-4D9A-941B-0816D8EE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28900"/>
            <a:ext cx="1657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34A8FF-1BBD-41F2-BAA6-EDB0C0AE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670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DDF601-2459-452E-80CB-51C102F4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194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цена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D7B277-A441-448D-BD58-B18D958D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337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$50 / мес.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F72412-AA96-4DC9-BE37-3FF17CF0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BF7"/>
                </a:solidFill>
              </a:defRPr>
            </a:pPr>
            <a:r>
              <a:rPr sz="1425" b="1">
                <a:solidFill>
                  <a:srgbClr val="F5FBF7"/>
                </a:solidFill>
              </a:rPr>
              <a:t>$10 наставнику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E2C196-3E18-41FA-8531-5A9A95A7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38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1 PV в структуру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9AFA87-2ED1-42C6-B967-D27C53D3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7734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511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EC8E69-4578-4003-A355-B7500779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708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7E0DC"/>
                </a:solidFill>
              </a:defRPr>
            </a:pPr>
            <a:r>
              <a:rPr sz="1500">
                <a:solidFill>
                  <a:srgbClr val="D7E0DC"/>
                </a:solidFill>
              </a:rPr>
              <a:t>1 PV = 1 командный балл. 1 закрытый PV = $1. PV поднимаются всем вышестоящим по бинарной структуре.</a:t>
            </a:r>
          </a:p>
        </p:txBody>
      </p:sp>
    </p:spTree>
    <p:extLst>
      <p:ext uri="{BB962C8B-B14F-4D97-AF65-F5344CB8AC3E}">
        <p14:creationId xmlns:p14="http://schemas.microsoft.com/office/powerpoint/2010/main" val="4619509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1F9213-1EFF-4EDD-9028-C08B879D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80504-BCEB-4A62-9239-673977EF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73FBE-6264-47DC-A9A3-3D718246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C527E-4CE5-4E96-83C2-A9116CD7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9E368-5DF1-4071-BD8F-5852AEF1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9C19C-84B5-457B-998B-2AEB1844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18EAE-A32F-413C-BE6B-29D232B1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88F45-2131-46B2-8102-C52436AA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BBAFE-9F82-4F3A-89E6-5FDFF9DE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ДВИЖЕНИЕ НАЧИСЛЕНИЙ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348CD-C7FA-4FC5-B17C-F65CAB84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Путь начислений должен быть виден в одном взгляде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C6031-DCCA-4951-8EE2-0DC5971B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526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FEF31-ABF8-40D2-A3B0-D0B12F28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241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BF7"/>
                </a:solidFill>
              </a:defRPr>
            </a:pPr>
            <a:r>
              <a:rPr sz="1950" b="1">
                <a:solidFill>
                  <a:srgbClr val="F5FBF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2E16A-00C7-4F22-8CF2-D8EF35C4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95550"/>
            <a:ext cx="110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2BAB3-5DA2-405E-8CE3-91515284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Покупка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223CD-65AC-4B33-AE68-7B2BE84F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9092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пользователь оплачивает тариф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B048E-E228-411A-85F6-1F15CB52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D53F2-7CF9-456F-B7D9-621B11C5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10D"/>
                </a:solidFill>
              </a:defRPr>
            </a:pPr>
            <a:r>
              <a:rPr sz="1950" b="1">
                <a:solidFill>
                  <a:srgbClr val="07110D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38D43-9E26-49DC-A6ED-27DAE363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95550"/>
            <a:ext cx="110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996CB-1995-40CE-A538-1C888D61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81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Личный бонус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1847F9-6CB9-4922-A4B4-316D65C1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9092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наставник получает выплату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6DE617-178B-4097-9134-4C567795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526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A138C3-28AE-47F3-8E64-87B448B6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BF7"/>
                </a:solidFill>
              </a:defRPr>
            </a:pPr>
            <a:r>
              <a:rPr sz="1950" b="1">
                <a:solidFill>
                  <a:srgbClr val="F5FBF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0F8FF-3F85-42B9-8D51-4818D94B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95550"/>
            <a:ext cx="110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1DC7A4-55BC-4AB5-A024-C8653034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81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PV в структуру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B04C51-14D1-44BF-A8E6-25341D97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092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баллы идут вверх по бинару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1B2559-DF40-494E-84D1-15FDAFB8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6845B7-34DB-4C65-A38B-85A5DADF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BF7"/>
                </a:solidFill>
              </a:defRPr>
            </a:pPr>
            <a:r>
              <a:rPr sz="1950" b="1">
                <a:solidFill>
                  <a:srgbClr val="F5FBF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023E73-CF04-4E56-97B8-D3022FFB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110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8EA26-D3D4-4D61-942D-76491C59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81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Схлоп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5BF4BF-D48B-4540-8044-01048B90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9092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левая и правая ноги закрываются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B009B9-87F7-4E9B-94AF-22414905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526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06C9CD-49AA-4E00-823F-B80C4092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241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BF7"/>
                </a:solidFill>
              </a:defRPr>
            </a:pPr>
            <a:r>
              <a:rPr sz="1950" b="1">
                <a:solidFill>
                  <a:srgbClr val="F5FBF7"/>
                </a:solidFill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57791F-F47C-4912-BDBE-47EEDAB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81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Бонусы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90D33E-066D-449F-BF03-65A939DA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9092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командный бонус и развитие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CD405E-0D9A-4466-AD91-733484C9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57750"/>
            <a:ext cx="7429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D1813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DB9913-16E5-41AB-B187-D6D00FB9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38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DF34F"/>
                </a:solidFill>
              </a:defRPr>
            </a:pPr>
            <a:r>
              <a:rPr sz="1575" b="1">
                <a:solidFill>
                  <a:srgbClr val="7DF34F"/>
                </a:solidFill>
              </a:rPr>
              <a:t>Главное правило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80C52-D5B4-468D-BA25-54E82363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62575"/>
            <a:ext cx="670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Личный бонус получает только личный наставник. PV видят все вышестоящие партнёры по фактическому бинарному размещению.</a:t>
            </a:r>
          </a:p>
        </p:txBody>
      </p:sp>
    </p:spTree>
    <p:extLst>
      <p:ext uri="{BB962C8B-B14F-4D97-AF65-F5344CB8AC3E}">
        <p14:creationId xmlns:p14="http://schemas.microsoft.com/office/powerpoint/2010/main" val="8934277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7B36F3-99C5-470C-B69C-DB5E1389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1CB8C-EC4D-40E4-A303-0E30E5E1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78C93-753B-4B2E-AEAF-16371439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1AA30-55B5-4A66-803B-5F1D9AE6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D11EE-4DE1-46B1-982C-F03D69EA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F242D-5CAD-4B9F-8E96-338DB87E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EE456-6BD5-45AB-85C4-126C74D9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7A3BE-735F-4EF1-B304-6932202C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39C13-CFD3-4504-8CF1-6C090B58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ЛИЧНЫЙ БОНУС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594C9-4FBE-48B1-B85F-9F3B669B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Личный бонус остаётся самой понятной выплатой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52B08-A0BB-401D-AEDC-EC0CDFA4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621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96138-03DC-43E8-A7E6-1BE12015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00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822B6-2D0F-4312-A5D4-8C9590BB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526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EEED3-1F20-455E-B6B0-E6C5A533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669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D66EF-8562-417D-8900-AC69D31B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289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личному наставнику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27F60-C472-4687-87CC-AD797E7E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621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E1852-A2E5-4127-B7D2-725B60AF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0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847E4-CC46-449D-BE83-AAF6A87B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PRO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4A069-B9C6-40DB-B5A2-A4E9E03E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669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$90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6B0B1-4548-40CE-ACDD-CF499391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289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личному наставнику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3F73D-C193-4882-8681-FFBFC88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CED71-C40F-4AE3-AFB8-4DB17441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0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652A8B-A346-4AC6-92D4-A21527F0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VIP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1E771-F511-4AF8-A53A-AD4CA055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69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$270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8751C-AF10-4BAF-98EA-CFB11AC2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289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личному наставнику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167102-E937-4399-B83A-31037AA4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621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189AB0-3CD6-4064-8A14-91AFB5A0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00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5AE97F-0F67-424F-A446-3C146894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526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Подписка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61F991-839F-4963-B81A-15844BCA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669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D03836-20FB-4D8F-A5F0-CC60606C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289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личному наставнику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076B98-B53F-41AD-9B0E-F82042DA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90950"/>
            <a:ext cx="7429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FB6EB1-53E3-4B11-8EBF-1C8B2766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57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DF34F"/>
                </a:solidFill>
              </a:defRPr>
            </a:pPr>
            <a:r>
              <a:rPr sz="1800" b="1">
                <a:solidFill>
                  <a:srgbClr val="7DF34F"/>
                </a:solidFill>
              </a:rPr>
              <a:t>Пример по PRO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6C5ED6-3DC0-4DED-848E-F962694E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386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BF7"/>
                </a:solidFill>
              </a:defRPr>
            </a:pPr>
            <a:r>
              <a:rPr sz="2175" b="1">
                <a:solidFill>
                  <a:srgbClr val="F5FBF7"/>
                </a:solidFill>
              </a:rPr>
              <a:t>5 личных продаж × $90 = $450 личного бонуса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FAAE83-1F46-4F77-8B84-81F6F0C4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76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EBBB5"/>
                </a:solidFill>
              </a:defRPr>
            </a:pPr>
            <a:r>
              <a:rPr sz="1350">
                <a:solidFill>
                  <a:srgbClr val="AEBBB5"/>
                </a:solidFill>
              </a:rPr>
              <a:t>Если это первые 30 дней, дополнительно может включиться быстрый старт.</a:t>
            </a:r>
          </a:p>
        </p:txBody>
      </p:sp>
    </p:spTree>
    <p:extLst>
      <p:ext uri="{BB962C8B-B14F-4D97-AF65-F5344CB8AC3E}">
        <p14:creationId xmlns:p14="http://schemas.microsoft.com/office/powerpoint/2010/main" val="425389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98BC92-0974-4B7A-B94B-8CA71B49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D249F-322F-44A9-856E-578EECD6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CA417-6094-4BC9-BCE9-08D931DD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55967-787E-4492-9C66-AB42D6D1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487C9-B1DA-4BB4-9F58-6C0005BD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F63E5-01F9-4F75-B0AA-4169B782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5E420-9771-42C3-8B1A-9E734224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91A19-BADB-4C2F-902C-CC546BC6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D9DD4-2289-49A3-A190-D1B8F33B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БИНАРНОЕ РАЗМЕЩЕНИЕ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2E725-C7CC-49D2-B629-33CB64DF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Бинар сохраняет простую структуру: две прямые позиции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D2FCF-163A-4BD1-8818-F0CE1B71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035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8F52F-2E65-4DBD-8DF2-F517A521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0035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5742B-9A0A-43FF-8BE9-1DCDBE96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053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20776-1416-45B2-A899-498F3071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D79D9-3FD2-49B8-8D0A-7A81C05B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09750"/>
            <a:ext cx="114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018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7B590-FF5A-4D0A-9081-A34D713E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BF7"/>
                </a:solidFill>
              </a:defRPr>
            </a:pPr>
            <a:r>
              <a:rPr sz="1725" b="1">
                <a:solidFill>
                  <a:srgbClr val="F5FBF7"/>
                </a:solidFill>
              </a:rPr>
              <a:t>Вы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BBE5D-3CFB-4ABC-929C-4E6004FB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114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018"/>
          </a:solidFill>
          <a:ln xmlns:a="http://schemas.openxmlformats.org/drawingml/2006/main" w="9525">
            <a:solidFill>
              <a:srgbClr val="4CD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0F05A-A080-411F-92FE-83719FFD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2-й личник</a:t>
            </a:r>
          </a:p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левая нога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71D32-FE9B-4BB3-BBDF-5E53C053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114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018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4C5B3-97C5-4790-85D1-A0391CFA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1-й личник</a:t>
            </a:r>
          </a:p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правая нога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F0316E-9C5F-47E9-A8EE-6B9565A5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114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1423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ACD322-5E28-4E12-B53C-C610E77B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48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4-й личник</a:t>
            </a:r>
          </a:p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под 2-м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C52C09-59EF-4DA4-8563-821F9D59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114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1423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C81F31-FC5D-4465-80D7-637816E9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48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3-й личник</a:t>
            </a:r>
          </a:p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под 1-м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FB30C5-1377-485B-8F7A-F7C96AF9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9245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EBBB5"/>
                </a:solidFill>
              </a:defRPr>
            </a:pPr>
            <a:r>
              <a:rPr sz="1350">
                <a:solidFill>
                  <a:srgbClr val="AEBBB5"/>
                </a:solidFill>
              </a:rPr>
              <a:t>Личный бонус получает личный наставник. PV идут вверх по месту, куда партнёр поставлен в бинарной структуре.</a:t>
            </a:r>
          </a:p>
        </p:txBody>
      </p:sp>
    </p:spTree>
    <p:extLst>
      <p:ext uri="{BB962C8B-B14F-4D97-AF65-F5344CB8AC3E}">
        <p14:creationId xmlns:p14="http://schemas.microsoft.com/office/powerpoint/2010/main" val="20461751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24FCFF-C2ED-4ACA-B490-D73C905D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5CE00-6898-4FF5-A312-4950730A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45A53-AE9A-41A9-960C-527CDA3F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E0E86-C528-47B9-BF6A-13BE9886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5676C-3987-4CB9-8803-8FA184AC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D057D-CBF2-4431-BC71-51E1ECC3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864AE-983E-430F-B7C5-EDDC92DA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C1F59-1097-4E63-AF90-0D28C44D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6B467-1D45-450D-975D-7F6A863D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КОМАНДНЫЙ БОНУС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C6496-E30A-4B0F-9A26-B072316E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Командный бонус считается по слабой ноге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11E4C-8B7B-48FD-8D54-48653656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00250"/>
            <a:ext cx="2476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0D69C-9304-42C9-BA11-1053B2EF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383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7533C-C7EE-49A1-B987-5AD587EB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907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Левая нога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B7327-64C5-41CF-A6DB-5A91BBD0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0507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120 PV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6F1D3-492C-437E-AF4F-7676170C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670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накопленный объём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2FEE9-EE93-4B5D-BF9A-3090B8CB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2476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52639-0EAE-4D8E-B721-46B78182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383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6960A-4235-4D3B-AA25-710F49C9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Правая нога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A46F7-0D9F-484C-99A6-F0F0E7E9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0507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80 PV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35CC2-925D-40A6-BB64-AC563FCE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670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накопленный объём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8B96DB-8C7E-4B24-8F38-6EB0F6E9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83123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4D0B69-E888-4550-9615-C9F51C07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241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D7E0DC"/>
                </a:solidFill>
              </a:defRPr>
            </a:pPr>
            <a:r>
              <a:rPr sz="1500">
                <a:solidFill>
                  <a:srgbClr val="D7E0DC"/>
                </a:solidFill>
              </a:rPr>
              <a:t>Схлопнутый объём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C34D9E-DFDC-4468-A8C8-8BE0EF03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8610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7DF34F"/>
                </a:solidFill>
              </a:defRPr>
            </a:pPr>
            <a:r>
              <a:rPr sz="3450" b="1">
                <a:solidFill>
                  <a:srgbClr val="7DF34F"/>
                </a:solidFill>
              </a:rPr>
              <a:t>80 PV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93A4BA-D3C4-4788-BFB3-38484620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195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AEBBB5"/>
                </a:solidFill>
              </a:defRPr>
            </a:pPr>
            <a:r>
              <a:rPr sz="1800">
                <a:solidFill>
                  <a:srgbClr val="AEBBB5"/>
                </a:solidFill>
              </a:rPr>
              <a:t>× $1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CCD03E-E4E7-4A8F-8BF3-9BDC4697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9650"/>
            <a:ext cx="6096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B22E0F-52D0-4080-A327-888D47F6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38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BF7"/>
                </a:solidFill>
              </a:defRPr>
            </a:pPr>
            <a:r>
              <a:rPr sz="2025" b="1">
                <a:solidFill>
                  <a:srgbClr val="F5FBF7"/>
                </a:solidFill>
              </a:rPr>
              <a:t>Ваш бонус: $80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164E66-D524-4ECC-B757-C54870E9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958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Остаток после схлопывания: левая 40 PV, правая 0 PV</a:t>
            </a:r>
          </a:p>
        </p:txBody>
      </p:sp>
    </p:spTree>
    <p:extLst>
      <p:ext uri="{BB962C8B-B14F-4D97-AF65-F5344CB8AC3E}">
        <p14:creationId xmlns:p14="http://schemas.microsoft.com/office/powerpoint/2010/main" val="563579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A010D-5360-4680-910D-522315D4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E0567-841E-4F63-9906-BB48AAF9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50953-53B4-4B43-B623-A73BD771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9081A-D595-433C-835C-8055EC10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ECE24-2F2F-4736-B64B-49F333CE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285E1-A6D6-43D3-9D3B-BC2A2610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3B37C-3137-4656-ADBC-A304074D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7CFED-7F1C-46D4-911A-E6380B89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D8B05-99DD-4D6A-A150-722B6B38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БОНУС РАЗВИТИЯ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365FB-F326-466E-B940-65EB2ED1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Бонус развития добавляет доход от командных бонусов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35C25-89D4-4848-8327-0F918040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5265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0AB8A-DD89-4C28-9751-6D3138D8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03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BF7"/>
                </a:solidFill>
              </a:defRPr>
            </a:pPr>
            <a:r>
              <a:rPr sz="1350" b="1">
                <a:solidFill>
                  <a:srgbClr val="F5FBF7"/>
                </a:solidFill>
              </a:rPr>
              <a:t>1 линия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6D44E-D056-4529-BB0B-85B37980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813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DF34F"/>
                </a:solidFill>
              </a:defRPr>
            </a:pPr>
            <a:r>
              <a:rPr sz="2550" b="1">
                <a:solidFill>
                  <a:srgbClr val="7DF34F"/>
                </a:solidFill>
              </a:rPr>
              <a:t>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1AD5F-5F3B-4CAE-9330-8EC86A24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89C6D-3B6D-43EC-9579-1A04B64A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BF7"/>
                </a:solidFill>
              </a:defRPr>
            </a:pPr>
            <a:r>
              <a:rPr sz="1350" b="1">
                <a:solidFill>
                  <a:srgbClr val="F5FBF7"/>
                </a:solidFill>
              </a:rPr>
              <a:t>2 линия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05744-97DD-45E0-A7C0-AEC6EF70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DF34F"/>
                </a:solidFill>
              </a:defRPr>
            </a:pPr>
            <a:r>
              <a:rPr sz="2550" b="1">
                <a:solidFill>
                  <a:srgbClr val="7DF34F"/>
                </a:solidFill>
              </a:rPr>
              <a:t>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42E4B-31DD-4EA3-9724-354F33E8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5265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B87FB-06E1-4905-A9DE-ED10BB4E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003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BF7"/>
                </a:solidFill>
              </a:defRPr>
            </a:pPr>
            <a:r>
              <a:rPr sz="1350" b="1">
                <a:solidFill>
                  <a:srgbClr val="F5FBF7"/>
                </a:solidFill>
              </a:rPr>
              <a:t>3 линия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8AA63D-A65D-4686-B0F9-5BDEED71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DF34F"/>
                </a:solidFill>
              </a:defRPr>
            </a:pPr>
            <a:r>
              <a:rPr sz="2550" b="1">
                <a:solidFill>
                  <a:srgbClr val="7DF34F"/>
                </a:solidFill>
              </a:rPr>
              <a:t>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CC642-24DE-47E0-99C5-5BF24913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5265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6E891-D81A-44A6-8AE0-D1DEE1D0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BF7"/>
                </a:solidFill>
              </a:defRPr>
            </a:pPr>
            <a:r>
              <a:rPr sz="1350" b="1">
                <a:solidFill>
                  <a:srgbClr val="F5FBF7"/>
                </a:solidFill>
              </a:rPr>
              <a:t>4 линия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F1E630-F613-4E6E-946A-8F34809B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DF34F"/>
                </a:solidFill>
              </a:defRPr>
            </a:pPr>
            <a:r>
              <a:rPr sz="2550" b="1">
                <a:solidFill>
                  <a:srgbClr val="7DF34F"/>
                </a:solidFill>
              </a:rPr>
              <a:t>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21F8E0-C267-4EFA-95D7-14AE9BDB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5265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9A51C-BBC7-4CED-A8F9-6A56B6CE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003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BF7"/>
                </a:solidFill>
              </a:defRPr>
            </a:pPr>
            <a:r>
              <a:rPr sz="1350" b="1">
                <a:solidFill>
                  <a:srgbClr val="F5FBF7"/>
                </a:solidFill>
              </a:rPr>
              <a:t>5 линия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0622A6-5FC1-44BC-8367-C0153AFC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DF34F"/>
                </a:solidFill>
              </a:defRPr>
            </a:pPr>
            <a:r>
              <a:rPr sz="2550" b="1">
                <a:solidFill>
                  <a:srgbClr val="7DF34F"/>
                </a:solidFill>
              </a:rPr>
              <a:t>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1CCF25-A3BA-4AA0-B79E-6995D379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723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1511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AA794B-81C5-47AF-B362-106E9544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67200"/>
            <a:ext cx="636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BF7"/>
                </a:solidFill>
              </a:defRPr>
            </a:pPr>
            <a:r>
              <a:rPr sz="1800" b="1">
                <a:solidFill>
                  <a:srgbClr val="F5FBF7"/>
                </a:solidFill>
              </a:rPr>
              <a:t>Бонус считается только от командного бонуса партнёра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1FE085-90EF-40EF-A1F5-4B2B21ED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EBBB5"/>
                </a:solidFill>
              </a:defRPr>
            </a:pPr>
            <a:r>
              <a:rPr sz="1350">
                <a:solidFill>
                  <a:srgbClr val="AEBBB5"/>
                </a:solidFill>
              </a:rPr>
              <a:t>Пример: партнёр получил $100 командного бонуса - вы получаете $5.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260F12-1438-4C61-A5C8-D3C63805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48300"/>
            <a:ext cx="2095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30F10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A8E8D1-D5CF-41E0-9D98-AA580EEC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8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220D59-1B3C-46BE-B224-BD103419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5530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7E0DC"/>
                </a:solidFill>
              </a:defRPr>
            </a:pPr>
            <a:r>
              <a:rPr sz="975" b="1">
                <a:solidFill>
                  <a:srgbClr val="D7E0DC"/>
                </a:solidFill>
              </a:rPr>
              <a:t>не от оборота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A66CB6-3175-413B-A216-33193452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48300"/>
            <a:ext cx="2095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30F10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77193F-6027-4D3F-84D9-2BD4F0DE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58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73DD58-DB9C-4CA6-83D6-1717D6D5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5530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7E0DC"/>
                </a:solidFill>
              </a:defRPr>
            </a:pPr>
            <a:r>
              <a:rPr sz="975" b="1">
                <a:solidFill>
                  <a:srgbClr val="D7E0DC"/>
                </a:solidFill>
              </a:rPr>
              <a:t>не от личного бонуса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C9B82A-F669-4357-B6F8-1BD04C2B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48300"/>
            <a:ext cx="2095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30F10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1A4F2F-427A-428F-BD86-B9A16746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58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393192-F9DA-45EC-927A-4CFEA788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530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7E0DC"/>
                </a:solidFill>
              </a:defRPr>
            </a:pPr>
            <a:r>
              <a:rPr sz="975" b="1">
                <a:solidFill>
                  <a:srgbClr val="D7E0DC"/>
                </a:solidFill>
              </a:rPr>
              <a:t>не от PV напрямую</a:t>
            </a:r>
          </a:p>
        </p:txBody>
      </p:sp>
    </p:spTree>
    <p:extLst>
      <p:ext uri="{BB962C8B-B14F-4D97-AF65-F5344CB8AC3E}">
        <p14:creationId xmlns:p14="http://schemas.microsoft.com/office/powerpoint/2010/main" val="976328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826B4-1A6D-48B2-BA90-4AD18FF2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76ADE-D0EE-447D-B415-83FF3F07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3E8F8-00B6-4E1C-99F4-C5C2626C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E0BA1-2877-494B-BDC7-C9878FD4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AA642-E89A-410A-BA39-791E834D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A0B51-4A2E-469E-89EC-F0F02AD2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0860B-65E8-4D84-8761-22E47E31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A5691-FE57-40D2-A5FA-BCA6F30B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C9CD5-C04A-45F9-8147-AF3BC447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БЫСТРЫЙ СТАРТ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0211A-C642-4B19-BC91-C17428CA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Быстрый старт награждает активный запуск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76768-F423-46C2-B417-2E4CDAE9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95500"/>
            <a:ext cx="35052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2F6F4-50E7-4FE5-969F-338AB9EA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81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DF34F"/>
                </a:solidFill>
              </a:defRPr>
            </a:pPr>
            <a:r>
              <a:rPr sz="1875" b="1">
                <a:solidFill>
                  <a:srgbClr val="7DF34F"/>
                </a:solidFill>
              </a:rPr>
              <a:t>Условие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D3237-6BC2-4065-B9BD-9D2BA544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337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5 личных продаж PRO</a:t>
            </a:r>
          </a:p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за первые 30 дней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0B6DE-D119-44FF-9F27-3562BE09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576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Бонус выплачивается один раз и только после проверки оплат.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45598-1DE4-467B-8388-00F54FD3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35052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42117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11AEA-E63D-41B6-84AA-5EA58E52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81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DF34F"/>
                </a:solidFill>
              </a:defRPr>
            </a:pPr>
            <a:r>
              <a:rPr sz="1875" b="1">
                <a:solidFill>
                  <a:srgbClr val="7DF34F"/>
                </a:solidFill>
              </a:rPr>
              <a:t>Пример расчёта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7AB43-DBC3-485D-8AF7-6F1490ED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52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5 × $90 = $450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73B0A-5E03-4292-838A-E09BEF12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09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DF34F"/>
                </a:solidFill>
              </a:defRPr>
            </a:pPr>
            <a:r>
              <a:rPr sz="2025" b="1">
                <a:solidFill>
                  <a:srgbClr val="7DF34F"/>
                </a:solidFill>
              </a:rPr>
              <a:t>+ $150 быстрый старт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C11B8-28E2-47BD-9B27-71987B4B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052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DDA44-FA58-480A-8127-B345AB54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95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BF7"/>
                </a:solidFill>
              </a:defRPr>
            </a:pPr>
            <a:r>
              <a:rPr sz="2550" b="1">
                <a:solidFill>
                  <a:srgbClr val="F5FBF7"/>
                </a:solidFill>
              </a:rPr>
              <a:t>Итого $600</a:t>
            </a:r>
          </a:p>
        </p:txBody>
      </p:sp>
    </p:spTree>
    <p:extLst>
      <p:ext uri="{BB962C8B-B14F-4D97-AF65-F5344CB8AC3E}">
        <p14:creationId xmlns:p14="http://schemas.microsoft.com/office/powerpoint/2010/main" val="15672203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13CB79-3F32-468F-973B-263C7553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E90E4-7CC5-453F-A622-20194018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E6E40-9F03-4354-BA40-44147000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2525B-4C0C-4058-B8D1-1A82C5CB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420D4-0124-4224-8AA3-E1FB4901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D86DB-9846-4690-ACB3-F760B607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F3FF6-A43F-4100-8A60-40CE22F0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33AA2-7AEC-46FA-92CC-8FB89ECF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B21DB-BE62-4EB6-99F4-9A30BEA3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КАРЬЕРНАЯ ЛЕСТНИЦА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2A746-6F32-4CAC-834C-B8D75D06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Статусы превращают рост команды в карьерный путь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CCEE1-B167-4AAF-A467-B29AED2E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76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A8176-8952-46C5-BFE7-D0C53893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670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BF7"/>
                </a:solidFill>
              </a:defRPr>
            </a:pPr>
            <a:r>
              <a:rPr sz="2100" b="1">
                <a:solidFill>
                  <a:srgbClr val="F5FBF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BCA19-1ADC-485F-8B7E-64B84221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5C0CE-7F86-43AB-A4E8-7EA56DE5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576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Резидент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F0AF19-B42C-479C-B22A-A2C664D7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576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27609-FBF1-472F-8E52-C6209753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67C2B-B0B7-4513-BACE-A6E4A77E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BF7"/>
                </a:solidFill>
              </a:defRPr>
            </a:pPr>
            <a:r>
              <a:rPr sz="2100" b="1">
                <a:solidFill>
                  <a:srgbClr val="F5FBF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DCA47-1E08-4D17-987A-F40A5983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765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3D59E-9F16-44FF-8724-D14479D6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576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Партнёр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93E24-C86C-4731-BAE7-18864C4C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576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80DF8-CDD9-4C43-9982-68E321F1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A953B-A721-46D1-93C3-EF8C70AC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670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0D"/>
                </a:solidFill>
              </a:defRPr>
            </a:pPr>
            <a:r>
              <a:rPr sz="2100" b="1">
                <a:solidFill>
                  <a:srgbClr val="07110D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B46CE2-486D-4EEE-B053-3DE0D571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765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00745-A118-4712-BAB3-6DDBE2E4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Мастер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D2065-8C21-48B3-B0BC-6CEE75F3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576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DF34F"/>
                </a:solidFill>
              </a:defRPr>
            </a:pPr>
            <a:r>
              <a:rPr sz="1425" b="1">
                <a:solidFill>
                  <a:srgbClr val="7DF34F"/>
                </a:solidFill>
              </a:rPr>
              <a:t>$100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74674E-463C-4564-BFB1-4D55F237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76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ED613-5CDA-49D2-AA0C-F3BE5E90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0D"/>
                </a:solidFill>
              </a:defRPr>
            </a:pPr>
            <a:r>
              <a:rPr sz="2100" b="1">
                <a:solidFill>
                  <a:srgbClr val="07110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A19239-5F15-4319-8A1E-0841606B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765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10A2E9-1776-4222-A884-8CEF1C8B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576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Лидер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B241C7-848C-4764-A082-50A35942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DF34F"/>
                </a:solidFill>
              </a:defRPr>
            </a:pPr>
            <a:r>
              <a:rPr sz="1425" b="1">
                <a:solidFill>
                  <a:srgbClr val="7DF34F"/>
                </a:solidFill>
              </a:rPr>
              <a:t>$300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8B978B-7553-4C06-9BC1-6C2EEE0F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ADC838-4839-44BC-A3DD-DB4A7339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670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0D"/>
                </a:solidFill>
              </a:defRPr>
            </a:pPr>
            <a:r>
              <a:rPr sz="2100" b="1">
                <a:solidFill>
                  <a:srgbClr val="07110D"/>
                </a:solidFill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685B62-5C28-40B1-88B4-6C4A27B5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765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C1F27A-FD4E-4185-AAEB-13434B62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576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Ментор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1E738A-EC6B-4EB3-85B2-2F620E7C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DF34F"/>
                </a:solidFill>
              </a:defRPr>
            </a:pPr>
            <a:r>
              <a:rPr sz="1425" b="1">
                <a:solidFill>
                  <a:srgbClr val="7DF34F"/>
                </a:solidFill>
              </a:rPr>
              <a:t>$1 000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65F030-9114-468F-8BD1-68A06143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76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65AB4C-BAC0-4C76-9E21-8AEB8CE3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0D"/>
                </a:solidFill>
              </a:defRPr>
            </a:pPr>
            <a:r>
              <a:rPr sz="2100" b="1">
                <a:solidFill>
                  <a:srgbClr val="07110D"/>
                </a:solidFill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79906E-895A-4DC9-A6CB-53350A17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576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Визионер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58EF1D-8206-4A26-B473-E47BEFDB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576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DF34F"/>
                </a:solidFill>
              </a:defRPr>
            </a:pPr>
            <a:r>
              <a:rPr sz="1425" b="1">
                <a:solidFill>
                  <a:srgbClr val="7DF34F"/>
                </a:solidFill>
              </a:rPr>
              <a:t>$10 000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E57011-1710-4928-ABC6-2EB27020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57800"/>
            <a:ext cx="659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AEBBB5"/>
                </a:solidFill>
              </a:defRPr>
            </a:pPr>
            <a:r>
              <a:rPr sz="1500">
                <a:solidFill>
                  <a:srgbClr val="AEBBB5"/>
                </a:solidFill>
              </a:rPr>
              <a:t>Статусные бонусы выплачиваются один раз за первое достижение статуса.</a:t>
            </a:r>
          </a:p>
        </p:txBody>
      </p:sp>
    </p:spTree>
    <p:extLst>
      <p:ext uri="{BB962C8B-B14F-4D97-AF65-F5344CB8AC3E}">
        <p14:creationId xmlns:p14="http://schemas.microsoft.com/office/powerpoint/2010/main" val="5238246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E9930E-E995-4A08-A720-091169AA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B8592-A61A-45F6-B09F-1BE35FDB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F5AF5-1196-4F63-9AF9-F27C54DA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EB8A9-A787-477A-942C-199A0E57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3BEFC-912E-422E-8941-C5507051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98928-6984-4661-B438-F60AA7AE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A8BE8-AAD9-4751-944C-99971598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FA6EB-3E50-4A2A-8FCE-69169C9B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A9167-ACB7-4791-9727-F718D04A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УСЛОВИЯ СТАТУСОВ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A0888-BA89-415B-A174-DD6BA015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Для роста нужны личные продажи и сбалансированные ноги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A9F90-56D1-4649-B159-8827B184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24050"/>
            <a:ext cx="864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8BF39-CF51-4570-91B4-659E99A4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33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DF34F"/>
                </a:solidFill>
              </a:defRPr>
            </a:pPr>
            <a:r>
              <a:rPr sz="1575" b="1">
                <a:solidFill>
                  <a:srgbClr val="7DF34F"/>
                </a:solidFill>
              </a:rPr>
              <a:t>Мастер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25F20-A8A9-46B5-8953-D9E86796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5 личных продаж PRO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3C7AD-8ABC-47D6-AB1B-7EE7BDB4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14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$100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9511A-147A-4B43-9E74-F28FCBEF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0350"/>
            <a:ext cx="864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C8103-5C1C-4130-B955-5FF7F7BF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09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DF34F"/>
                </a:solidFill>
              </a:defRPr>
            </a:pPr>
            <a:r>
              <a:rPr sz="1575" b="1">
                <a:solidFill>
                  <a:srgbClr val="7DF34F"/>
                </a:solidFill>
              </a:rPr>
              <a:t>Лидер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51C06-6061-48A3-847E-608913A6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2 Мастера в разных ногах + 500 PV слабой ноги / месяц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A5D97-5E37-48EF-8ADE-0F24F434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90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$300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26C96-8883-4627-B9E1-A5DDE29E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76650"/>
            <a:ext cx="864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ABA12-4A94-488E-8981-74B6239B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862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DF34F"/>
                </a:solidFill>
              </a:defRPr>
            </a:pPr>
            <a:r>
              <a:rPr sz="1575" b="1">
                <a:solidFill>
                  <a:srgbClr val="7DF34F"/>
                </a:solidFill>
              </a:rPr>
              <a:t>Ментор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1586CF-0868-4B5D-ABB0-5035DDBF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67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2 Лидера в разных ногах + 2 500 PV слабой ноги / месяц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D5718E-F5E7-409C-BF38-EEFC20D8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67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$1 000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BCE702-42A6-41E1-AE32-6144826B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52950"/>
            <a:ext cx="864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74592-697C-4B68-9ECD-A0BCAF74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DF34F"/>
                </a:solidFill>
              </a:defRPr>
            </a:pPr>
            <a:r>
              <a:rPr sz="1575" b="1">
                <a:solidFill>
                  <a:srgbClr val="7DF34F"/>
                </a:solidFill>
              </a:rPr>
              <a:t>Визионер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5E6687-BE87-4634-9080-DB8ABE37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43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2 Ментора в разных ногах + 10 000 PV слабой ноги / месяц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E0B86-DE4C-4D0A-BE4B-C53FC34F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43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$10 000</a:t>
            </a:r>
          </a:p>
        </p:txBody>
      </p:sp>
    </p:spTree>
    <p:extLst>
      <p:ext uri="{BB962C8B-B14F-4D97-AF65-F5344CB8AC3E}">
        <p14:creationId xmlns:p14="http://schemas.microsoft.com/office/powerpoint/2010/main" val="21233498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10F1F9-3FBA-4645-8A44-BA7E0223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6D83A-B9B1-49BE-9401-8CF79B0F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0B983-62BC-4C4F-84AF-A7DE5745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118E4-E6C3-48A9-A949-F04221CF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ABCDB-5EDA-49AC-BF52-A4733756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05C35-A8CF-4D2A-9035-AF1EBEF4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D0C3A-EB1D-469C-AB27-BA2DD5BB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25AC6-223F-417E-BC87-3AA87B89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D8E9A-50CB-4D2D-91CC-39DF2661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ЛИДЕРСКИЕ ФОНДЫ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35D11-5662-4635-A6B6-C8036D71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Лидерские фонды распределяют резерв между квалифицированными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2046B-FAE9-48F9-9252-3A056617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0"/>
            <a:ext cx="2476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8E6F6-C04C-4591-A6E9-D1509B1E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622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Фонд лидеров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FEB5B-36AF-49BB-9AF2-1C6ECC27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Лидеры и выше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F6E7B-7259-41CE-9512-D416A4BA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623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7DF34F"/>
                </a:solidFill>
              </a:defRPr>
            </a:pPr>
            <a:r>
              <a:rPr sz="4200" b="1">
                <a:solidFill>
                  <a:srgbClr val="7DF34F"/>
                </a:solidFill>
              </a:rPr>
              <a:t>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87859-BDEE-4B15-97DE-5E847703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476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34DAE-0A10-46EE-BD53-9DCBDCB0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622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Фонд менторов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F4B84-8FB4-43BD-ABCB-E63E6C08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432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Менторы и выше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41D61-DB35-456A-B0B0-DA35A70E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623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7DF34F"/>
                </a:solidFill>
              </a:defRPr>
            </a:pPr>
            <a:r>
              <a:rPr sz="4200" b="1">
                <a:solidFill>
                  <a:srgbClr val="7DF34F"/>
                </a:solidFill>
              </a:rPr>
              <a:t>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2556D-76B4-455F-AEC1-9D5B5793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2476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3A541-5D80-4756-A0E6-75539D3D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Фонд визионеров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D5767-8976-4806-92C4-1C65DF67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Только визионеры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69AA29-5577-4DD4-94D8-42D90AA4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623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7DF34F"/>
                </a:solidFill>
              </a:defRPr>
            </a:pPr>
            <a:r>
              <a:rPr sz="4200" b="1">
                <a:solidFill>
                  <a:srgbClr val="7DF34F"/>
                </a:solidFill>
              </a:rPr>
              <a:t>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89D349-CFCD-4861-B876-E8822081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73914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1511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A8DA43-E849-4AD2-9CA7-1CD76747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387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D7E0DC"/>
                </a:solidFill>
              </a:defRPr>
            </a:pPr>
            <a:r>
              <a:rPr sz="1425">
                <a:solidFill>
                  <a:srgbClr val="D7E0DC"/>
                </a:solidFill>
              </a:rPr>
              <a:t>Пример: при выручке $300 000 каждый фонд по 1% равен $3 000. Если в фонде 10 участников, каждый получает $300.</a:t>
            </a:r>
          </a:p>
        </p:txBody>
      </p:sp>
    </p:spTree>
    <p:extLst>
      <p:ext uri="{BB962C8B-B14F-4D97-AF65-F5344CB8AC3E}">
        <p14:creationId xmlns:p14="http://schemas.microsoft.com/office/powerpoint/2010/main" val="1648117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020464-F883-4C64-9AEC-7181F5F4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13716-BEEC-4F63-BC83-2002642C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06BCB-E2A4-42C9-952E-4479CA1C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2B148-94A6-434D-81B9-CC77CBB0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F6340-05BB-4DA3-95BF-FBE5E17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4C04B-394D-45A6-93FF-604B4AFE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E8D04-D019-4F4B-93A0-0BAEE7A0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51176-D930-4CEB-8D81-A27F6C56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63927-5E26-443F-BF36-EABF7A9E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ПРАВИЛА ВЫПЛАТ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B6DCE-A03A-4588-B7D5-3A65FEAD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Выплаты становятся доступными только после контроля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078FF-458B-4B9A-8EB6-2A36C397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05000"/>
            <a:ext cx="3905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2A7A1-2ABE-473E-8531-682E9AE4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52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547D3-EB8D-41FE-9A8A-B886AFBF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76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Холд выплат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DEC5D-9078-4FA4-94C7-5E2CFE64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14 дней на проверку оплат и возвратов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B9345-1919-4EA1-AA6D-42BCBED9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05000"/>
            <a:ext cx="3905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CE8BE-E535-4127-AB01-144FEB75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6992B-DCE5-44CC-A1F4-001A656C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76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Подтверждённые начисления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C72E7-9A0C-4E32-ACA7-05A75ECD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не сгорают и сохраняются на балансе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F6C864-6E55-4B97-8124-42C14F83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28950"/>
            <a:ext cx="3905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52EEB-B28B-4CC9-90EB-3ADDD2BD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A853B4-C7EF-4368-B477-2891167D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0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Возвраты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8B440-689D-4F99-9295-00E97051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86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создают обратные корректировки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B4F73-0B6D-47E2-B9D7-21551C73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28950"/>
            <a:ext cx="3905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7A13DB-54F4-4684-91C6-6D47F2F6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4CB9C-C70B-409E-961A-CD3F4095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Быстрый старт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BABEF-F634-45EC-846F-D3B7A77C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выплачивается только один раз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197564-BB7D-4D71-BE23-44C8BC0D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52900"/>
            <a:ext cx="3905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06C1C-3C55-4D72-8A45-BEE028C3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FC504A-F908-4A19-9695-CC78911B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24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Статусный бонус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2B9409-6EE2-46ED-8F1F-8DF27EC6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10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только за первое достижение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307B1E-FB84-4002-8D3E-56FF5307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52900"/>
            <a:ext cx="3905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47FD54-6A5F-4861-A40A-1CC55CE1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F141F6-E8A0-4E6F-AB8D-7666920D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24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Верификация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130F88-163D-4275-B432-8C66722B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0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нужна для вывода средств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3F482C-83B4-46F5-8B41-975E7DB3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959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Все выплаты являются расчётными начислениями и зависят от выполнения условий, проверки оплат и отсутствия нарушений.</a:t>
            </a:r>
          </a:p>
        </p:txBody>
      </p:sp>
    </p:spTree>
    <p:extLst>
      <p:ext uri="{BB962C8B-B14F-4D97-AF65-F5344CB8AC3E}">
        <p14:creationId xmlns:p14="http://schemas.microsoft.com/office/powerpoint/2010/main" val="6482853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1A1696-0D76-4F0E-B761-E09FBC3E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3F4D2-0C3C-4141-8D1E-0571120E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182E5-2D0E-41D5-9522-84F04F28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FF879-E37C-42AC-BC25-840DFD5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34DCB-078E-4F1B-9C3A-6421DB48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3741A-93B8-4D72-A07E-0A4669C5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E4AEA-AB2C-4E52-993F-A30B71A0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22E28-F06C-4734-AA1B-AF8A5FC8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122E-2549-43EF-8431-27B01B8A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ВОЗВРАТЫ И КОРРЕКТИРОВКИ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D31F4-A0E0-4AEA-AC8A-70EA0E5F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Возврат запускает обратный расчёт по всей цепочке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8953E-B47D-4E41-A4DD-9D25E8C5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2000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7DE17-D1A7-4C47-B726-B92DFE6B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00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6B6B"/>
                </a:solidFill>
              </a:defRPr>
            </a:pPr>
            <a:r>
              <a:rPr sz="1950" b="1">
                <a:solidFill>
                  <a:srgbClr val="FF6B6B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19FF7-21A8-4505-BD9A-7FEFE337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956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Покупка отменена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EF1B2-1B0D-413F-BC24-82C56668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480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заказ получает статус возврата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16356-9669-4BFA-8935-AF5053D1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90750"/>
            <a:ext cx="2000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6AF2B-BEA9-4CDD-BD2F-775AAC9B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00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DF34F"/>
                </a:solidFill>
              </a:defRPr>
            </a:pPr>
            <a:r>
              <a:rPr sz="1950" b="1">
                <a:solidFill>
                  <a:srgbClr val="7DF34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B9FC7-497E-4D7E-8600-2B28A92F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956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PV списываются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5CFA2-F108-4EF7-B38E-D25265EC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480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объём убирается из структуры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CFDE67-B62F-4562-8AA9-1B6A66A8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000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22A860-10D1-4EDC-A2DD-C9683780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DF34F"/>
                </a:solidFill>
              </a:defRPr>
            </a:pPr>
            <a:r>
              <a:rPr sz="1950" b="1">
                <a:solidFill>
                  <a:srgbClr val="7DF34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C96E99-4496-4ED8-839F-3F6CF170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956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Бонусы корректируются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54C8D-EECE-4426-9952-12E0B1C5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480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личный, командный и развитие пересчитываются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C723E-858F-4FFD-B3F8-09A21A8C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90750"/>
            <a:ext cx="2000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714638-9B27-47EF-9A5C-4CFC9B29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00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DF34F"/>
                </a:solidFill>
              </a:defRPr>
            </a:pPr>
            <a:r>
              <a:rPr sz="1950" b="1">
                <a:solidFill>
                  <a:srgbClr val="7DF34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A9C9F0-1FA5-45B9-8CBF-29575914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956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Баланс обновляется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6EEED8-AFF0-42AE-83CB-EB24F792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4480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если выплата уже была - появляется минус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1582EC-7757-49C5-999F-D4D6EBD8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57750"/>
            <a:ext cx="6438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80F0F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4251C7-7727-47BC-94EC-245085AA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244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D7E0DC"/>
                </a:solidFill>
              </a:defRPr>
            </a:pPr>
            <a:r>
              <a:rPr sz="1425">
                <a:solidFill>
                  <a:srgbClr val="D7E0DC"/>
                </a:solidFill>
              </a:rPr>
              <a:t>Пример: партнёр получил $90. Покупатель сделал возврат. На балансе появляется корректировка -$90.</a:t>
            </a:r>
          </a:p>
        </p:txBody>
      </p:sp>
    </p:spTree>
    <p:extLst>
      <p:ext uri="{BB962C8B-B14F-4D97-AF65-F5344CB8AC3E}">
        <p14:creationId xmlns:p14="http://schemas.microsoft.com/office/powerpoint/2010/main" val="6518423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6E655F-567D-41B8-AF82-8F9D6BE9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A06C3-A4D6-473B-9353-500DF84B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02F96-671F-41FC-A9EF-24A746EE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65236-625F-491F-85A5-C9BD208D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BD355-2AF8-4BE9-9447-96D5642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24A9B-6256-4640-B493-567F0605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E2786-C72A-4F44-B4B3-F66524FF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A413D-AA00-4E0E-9CB4-76DF5AE0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DDA33-7D0F-4842-96FA-930B2ADD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КОНТРОЛЬНАЯ ФИНМОДЕЛЬ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147CC-334B-463E-B9FD-FBDE9D94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Стресс-тест показывает контролируемую долю выплат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3F4CC-4E04-4446-9FD1-CED0F089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90700"/>
            <a:ext cx="1885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29174-C113-4C17-83EB-A7CB6D92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28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A902C-E403-4748-905A-BA2A1104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812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Выручка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1230F-8AB2-4E3F-AEDE-96C2126F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955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$1 200 000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5F12E-F2C9-43F0-86BB-5D517AA3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574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4 000 × $300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44A6A-0F16-4AB6-9E07-339D5B93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90700"/>
            <a:ext cx="1885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DC230-34BE-4611-854E-B7B09DD1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28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AB228-916B-45C7-B48B-39D086A7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812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Личные бонусы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2F04F-F1FE-4CA4-B922-36C5F868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955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$360 000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36DBB-5A3D-4425-83EE-6ED7A87C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574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30.00%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2785F7-3CED-4A60-BA1C-A3367FE2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90700"/>
            <a:ext cx="1885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882BF-A395-49DE-82C6-1F456C57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28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3EC50C-4085-4016-9896-C3DC9CA5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812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Командные бонусы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557EFD-31FF-41DE-B340-84098DDE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955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$79 920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956A6-E7F2-468F-A1B6-8B086279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6.66%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FC6C11-B827-47DA-9235-32B741F9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1885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385E72-0DEF-4B6C-81B8-C8E2C0FE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28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E31FC-EE42-40D7-B213-6D0DF49A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812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Бонус развития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A80DF9-0C28-4D85-9EF7-60EABF98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955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$12 055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3BEACB-6876-4EEE-B3BC-E0636F3B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1.00%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A1078C-0864-43B9-8D07-5D166E3A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62300"/>
            <a:ext cx="1885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B73505-6D1E-43F4-B6FB-6AEE005B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004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C08B9A-DF67-4578-98DF-DA656D52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528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Быстрый старт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04385A-0B66-4ED2-9AFE-0976D434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671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$23 250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F13E96-FDEB-411B-BD96-781F9449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290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1.94%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76C709-E923-466A-B15D-44CD0AB5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62300"/>
            <a:ext cx="1885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750B34-8C88-4A1A-8CDF-027B2645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004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B53492-AB65-42B5-8DBC-D4BF3095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528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Статусные бонусы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937FD3-C8B3-49C0-9570-64FE0888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671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$26 300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0D6393-CC63-491D-909C-FBF88C0D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290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2.19%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AC87AE-EF39-49F3-B4BA-4B00F7CF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62300"/>
            <a:ext cx="1885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C3573E-A1D3-4B7A-A7CA-49571ABA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715B35-82B2-4F86-9097-EC43AB00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Резерв фондов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52AE9D-43D7-46C3-9939-018713F7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$36 000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2C2568-5470-4BD6-A7CE-8D6391E7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3.00%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477595-8BAE-4775-9575-479B8442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62300"/>
            <a:ext cx="1885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445851-93AA-46AF-9635-E2D9446A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004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038C83-1F20-4FA8-9759-8A11876E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528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Остаётся компании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37E66B-AC32-487F-9794-7ABAEEF8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671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$662 475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EF039F-A9AB-44FB-88B4-6E4669EA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290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55.21% до расходов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873FE0-6CA5-410C-B3D2-B093BAF9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76800"/>
            <a:ext cx="8153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1511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E8AFB7-B0B9-488B-BCDB-EC481E85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43500"/>
            <a:ext cx="716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E0DC"/>
                </a:solidFill>
              </a:defRPr>
            </a:pPr>
            <a:r>
              <a:rPr sz="1650" b="1">
                <a:solidFill>
                  <a:srgbClr val="D7E0DC"/>
                </a:solidFill>
              </a:rPr>
              <a:t>Выплаты + резерв составляют около 44.79%. Компании остаётся около 55.21% до операционных расходов.</a:t>
            </a:r>
          </a:p>
        </p:txBody>
      </p:sp>
    </p:spTree>
    <p:extLst>
      <p:ext uri="{BB962C8B-B14F-4D97-AF65-F5344CB8AC3E}">
        <p14:creationId xmlns:p14="http://schemas.microsoft.com/office/powerpoint/2010/main" val="3355841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966FC4-A46F-4FC5-8D07-AA0F0892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5D88B-4517-46C4-88FF-95F84C97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45B96-4A34-4FFA-B08A-C06DABAF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C425F-1D6C-478B-8785-F2F1D1E0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AD9B7-C729-44E3-B4F7-AB2D6275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553CB-8F1A-46F8-BF91-C4157587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AE916-0411-4AC6-9392-5CDE14EE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63F7B-5AAE-473B-8035-034419CD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69926-FC48-4CD5-98EE-E612F053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ПРАВИЛА ДЛЯ СИСТЕМЫ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53828-6962-4A72-91D6-D1B779F3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Финансовый движок должен считать только подтверждённые операции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8604F-E8AC-426B-9B55-7858D34F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71650"/>
            <a:ext cx="809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7D73B-AA25-4A87-B411-A6FB5508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14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DF34F"/>
                </a:solidFill>
              </a:defRPr>
            </a:pPr>
            <a:r>
              <a:rPr sz="1275" b="1">
                <a:solidFill>
                  <a:srgbClr val="7DF34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9C64F-F5FC-49F7-8DAF-A42674C0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95475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Все расчёты ведутся в USD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41BD8-56FE-47F4-BEA7-1E6ACE39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00300"/>
            <a:ext cx="809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25EDF-BAD4-4458-8A2E-750B998E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431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DF34F"/>
                </a:solidFill>
              </a:defRPr>
            </a:pPr>
            <a:r>
              <a:rPr sz="1275" b="1">
                <a:solidFill>
                  <a:srgbClr val="7DF34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EDEBF-23A4-41BB-ABB2-DDB9DCAC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24125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Каждая операция пишется в журнал начислений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E16B8-B6F0-4266-88E5-D9369B32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28950"/>
            <a:ext cx="809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FAB9D-AE4E-45A3-AC36-748726B3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71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DF34F"/>
                </a:solidFill>
              </a:defRPr>
            </a:pPr>
            <a:r>
              <a:rPr sz="1275" b="1">
                <a:solidFill>
                  <a:srgbClr val="7DF34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88158-385F-4DA6-9BA7-0EEABDAB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52775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PV и бонусы не считаются на лету из текущего дерева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9738F-1170-4C27-93D4-B7FF69BF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57600"/>
            <a:ext cx="809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1942B-76E3-4A9B-B1BD-D94FFAF3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004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DF34F"/>
                </a:solidFill>
              </a:defRPr>
            </a:pPr>
            <a:r>
              <a:rPr sz="1275" b="1">
                <a:solidFill>
                  <a:srgbClr val="7DF34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4ED5F-169D-4E27-85F0-8804E2D0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81425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У операции есть статус: ожидание, подтверждено, отменено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5DCEDF-2613-4514-A467-BAB0A1BC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86250"/>
            <a:ext cx="809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336997-773C-48BB-AF92-17441C9A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291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DF34F"/>
                </a:solidFill>
              </a:defRPr>
            </a:pPr>
            <a:r>
              <a:rPr sz="1275" b="1">
                <a:solidFill>
                  <a:srgbClr val="7DF34F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C8894-2BCC-49E4-BEDD-951711DE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10075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Возвраты создают обратные корректировки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158EB1-4645-4A1C-B6EA-5B85F153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14900"/>
            <a:ext cx="809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BD3FFE-D0E8-4B7F-9105-D9DBB70E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577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DF34F"/>
                </a:solidFill>
              </a:defRPr>
            </a:pPr>
            <a:r>
              <a:rPr sz="1275" b="1">
                <a:solidFill>
                  <a:srgbClr val="7DF34F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A74F16-B5F9-40FE-884C-E8AA2E63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38725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Вывод доступен только после проверки и верификации</a:t>
            </a:r>
          </a:p>
        </p:txBody>
      </p:sp>
    </p:spTree>
    <p:extLst>
      <p:ext uri="{BB962C8B-B14F-4D97-AF65-F5344CB8AC3E}">
        <p14:creationId xmlns:p14="http://schemas.microsoft.com/office/powerpoint/2010/main" val="15137717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08EEB5-6403-4653-AAA6-A76AD9D3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CF313-651B-4674-AFB5-5D26E51B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15499-91E5-4748-A937-AF7ED0F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78B37-79A8-46AC-8708-0E5B19FE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F53D7-50BE-4BEF-B625-9AD7FC1D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14780-02C1-48EA-A2CA-B063B04C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F4371-7BB1-4885-BAAF-6504D958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15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8D4A5-2AB6-487A-91D1-2DE60A2B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C4611-074B-4FBC-A867-11EA7D4E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F34F"/>
                </a:solidFill>
              </a:defRPr>
            </a:pPr>
            <a:r>
              <a:rPr sz="975" b="1">
                <a:solidFill>
                  <a:srgbClr val="7DF34F"/>
                </a:solidFill>
              </a:rPr>
              <a:t>ФИНАЛЬНАЯ СХЕМА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FF15E-6FBB-4316-BD06-CAEAA1DA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BF7"/>
                </a:solidFill>
              </a:defRPr>
            </a:pPr>
            <a:r>
              <a:rPr sz="2700" b="1">
                <a:solidFill>
                  <a:srgbClr val="F5FBF7"/>
                </a:solidFill>
              </a:rPr>
              <a:t>CODE сводится к понятной формуле выплат и контроля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6DE78-D3A5-4BAE-982D-7330261F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09750"/>
            <a:ext cx="1847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0E467-9D11-4A4A-AA5B-7712391D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38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F090E-432A-4819-9D66-90E08228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812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DF34F"/>
                </a:solidFill>
              </a:defRPr>
            </a:pPr>
            <a:r>
              <a:rPr sz="1875" b="1">
                <a:solidFill>
                  <a:srgbClr val="7DF34F"/>
                </a:solidFill>
              </a:rPr>
              <a:t>$50 / мес.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B3048-BF7D-459D-BC63-1052E2DB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432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$10 + 1 PV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44E6D-1242-461B-918B-2DF4F401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1847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83123"/>
          </a:solidFill>
          <a:ln xmlns:a="http://schemas.openxmlformats.org/drawingml/2006/main" w="9525">
            <a:solidFill>
              <a:srgbClr val="7DF3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7BFA8-BB11-4FE3-89D4-7C91D13D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38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PRO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8FDB8-90A6-4FE7-8B39-3FC981B0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812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DF34F"/>
                </a:solidFill>
              </a:defRPr>
            </a:pPr>
            <a:r>
              <a:rPr sz="1875" b="1">
                <a:solidFill>
                  <a:srgbClr val="7DF34F"/>
                </a:solidFill>
              </a:rPr>
              <a:t>$300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92E04-6539-43CF-B57E-8F16129B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432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$90 + 10 PV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05939-465A-4593-8D1E-E0669A20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847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40B98-1ED8-49FA-898A-88C8B7D3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VIP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E6FB1-ED8C-4341-81F1-8B1F2A19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DF34F"/>
                </a:solidFill>
              </a:defRPr>
            </a:pPr>
            <a:r>
              <a:rPr sz="1875" b="1">
                <a:solidFill>
                  <a:srgbClr val="7DF34F"/>
                </a:solidFill>
              </a:rPr>
              <a:t>$900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94F4C3-8F88-4054-A10B-333C7844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432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$270 + 30 PV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626F3-B9FA-4002-B0AA-62E11488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1847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C17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F1CA3-0DC1-4BF0-BEF1-0A23B568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Подписка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528C06-47B4-4CC9-8B90-4FA19479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DF34F"/>
                </a:solidFill>
              </a:defRPr>
            </a:pPr>
            <a:r>
              <a:rPr sz="1875" b="1">
                <a:solidFill>
                  <a:srgbClr val="7DF34F"/>
                </a:solidFill>
              </a:rPr>
              <a:t>$50 / мес.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2BA21-9E44-45ED-B519-A1E28CEB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$10 + 1 PV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B3ADD4-38D2-45C2-ABF8-A58C9A0C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1905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92556C-ADA4-4F71-A459-1308E804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957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F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DDB3E7-72F2-49CD-B5A1-FB1FA3EB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481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за закрытый PV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8445AF-896C-4A69-B5D1-0E44F02B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1624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BD9D5E-5027-4787-95CD-679072C6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57600"/>
            <a:ext cx="1905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9B15C4-B93E-4B47-A909-CED96125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957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01D067-2DB0-408C-BC04-C4B40DD1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бонус развития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F850D9-3A9E-4ADA-90DD-BC7DDB99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624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5 линий × 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CBD0AB-0503-444B-B7A5-76272AE6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57600"/>
            <a:ext cx="1905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363CCE-E462-4E52-8D37-B29D1718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957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FA71C1-D795-4D91-A885-57E6059F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быстрый старт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708F91-1FAB-441E-B235-6A556473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624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$150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D3B4A6-B6EF-47F0-935D-9D00FB78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57600"/>
            <a:ext cx="1905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C5E97B-8C3B-4DC2-A04D-A59DB2A0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957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445DA1-552D-4F05-9456-DAFCA6C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481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фонды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FFD375-1072-4EE4-8111-9817E780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624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1% + 1% + 1%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73E7D5-321D-4946-96EA-E9049B3E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10200"/>
            <a:ext cx="7810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31C"/>
          </a:solidFill>
          <a:ln xmlns:a="http://schemas.openxmlformats.org/drawingml/2006/main" w="9525">
            <a:solidFill>
              <a:srgbClr val="3D5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FF2275-A206-469F-873D-44BE05EB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8165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Карьера: Резидент → Партнёр → Мастер → Лидер → Ментор → Визионер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A06D61-B61D-4C3A-8717-EAF11E11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134100"/>
            <a:ext cx="615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Юридические формулировки, оферта и политика выплат оформляются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519910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2026-07-09T11:12:54.4720000Z</dcterms:created>
  <dcterms:modified xsi:type="dcterms:W3CDTF">2026-07-09T11:12:54.4720000Z</dcterms:modified>
</coreProperties>
</file>