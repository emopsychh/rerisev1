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9e6c014638412c" /><Relationship Type="http://schemas.openxmlformats.org/officeDocument/2006/relationships/extended-properties" Target="/docProps/app.xml" Id="R193dc5e91897408b" /><Relationship Type="http://schemas.openxmlformats.org/officeDocument/2006/relationships/officeDocument" Target="/ppt/presentation.xml" Id="R9bfea1f431514d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e4f31bae044541"/>
  </p:sldMasterIdLst>
  <p:notesMasterIdLst>
    <p:notesMasterId xmlns:r="http://schemas.openxmlformats.org/officeDocument/2006/relationships" r:id="Rdd65e2c7af974637"/>
  </p:notesMasterIdLst>
  <p:sldIdLst>
    <p:sldId xmlns:r="http://schemas.openxmlformats.org/officeDocument/2006/relationships" id="256" r:id="R6666f4109a9f4dbf"/>
    <p:sldId xmlns:r="http://schemas.openxmlformats.org/officeDocument/2006/relationships" id="257" r:id="R40cd139493874ad5"/>
    <p:sldId xmlns:r="http://schemas.openxmlformats.org/officeDocument/2006/relationships" id="258" r:id="Re5ff2be9428f4098"/>
    <p:sldId xmlns:r="http://schemas.openxmlformats.org/officeDocument/2006/relationships" id="259" r:id="R82b859735db94e8a"/>
    <p:sldId xmlns:r="http://schemas.openxmlformats.org/officeDocument/2006/relationships" id="260" r:id="R6f39dac78c1d4d7d"/>
    <p:sldId xmlns:r="http://schemas.openxmlformats.org/officeDocument/2006/relationships" id="261" r:id="R1f4f2b5a67904766"/>
    <p:sldId xmlns:r="http://schemas.openxmlformats.org/officeDocument/2006/relationships" id="262" r:id="R53b4962e26d445b6"/>
    <p:sldId xmlns:r="http://schemas.openxmlformats.org/officeDocument/2006/relationships" id="263" r:id="Rae1037374b034c6d"/>
    <p:sldId xmlns:r="http://schemas.openxmlformats.org/officeDocument/2006/relationships" id="264" r:id="R8e006b14e91049b5"/>
    <p:sldId xmlns:r="http://schemas.openxmlformats.org/officeDocument/2006/relationships" id="265" r:id="R0458c3760be54347"/>
    <p:sldId xmlns:r="http://schemas.openxmlformats.org/officeDocument/2006/relationships" id="266" r:id="R43b100d84a3a4f08"/>
    <p:sldId xmlns:r="http://schemas.openxmlformats.org/officeDocument/2006/relationships" id="267" r:id="R27a783896a884703"/>
    <p:sldId xmlns:r="http://schemas.openxmlformats.org/officeDocument/2006/relationships" id="268" r:id="R2fb4f474dc4943f1"/>
    <p:sldId xmlns:r="http://schemas.openxmlformats.org/officeDocument/2006/relationships" id="269" r:id="R11aefe3c57504d9b"/>
    <p:sldId xmlns:r="http://schemas.openxmlformats.org/officeDocument/2006/relationships" id="270" r:id="R5a002f5ef0994011"/>
    <p:sldId xmlns:r="http://schemas.openxmlformats.org/officeDocument/2006/relationships" id="271" r:id="Rf7b2fb475c3844a9"/>
    <p:sldId xmlns:r="http://schemas.openxmlformats.org/officeDocument/2006/relationships" id="272" r:id="Ref546e862a12477e"/>
    <p:sldId xmlns:r="http://schemas.openxmlformats.org/officeDocument/2006/relationships" id="273" r:id="R4d666bb2c8014a1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c31c5016e044eb" /><Relationship Type="http://schemas.openxmlformats.org/officeDocument/2006/relationships/slideMaster" Target="/ppt/slideMasters/slideMaster1.xml" Id="R98e4f31bae044541" /><Relationship Type="http://schemas.openxmlformats.org/officeDocument/2006/relationships/notesMaster" Target="/ppt/notesMasters/notesMaster1.xml" Id="Rdd65e2c7af974637" /><Relationship Type="http://schemas.openxmlformats.org/officeDocument/2006/relationships/presProps" Target="/ppt/presProps.xml" Id="Rba6813bde36d4541" /><Relationship Type="http://schemas.openxmlformats.org/officeDocument/2006/relationships/tableStyles" Target="/ppt/tableStyles.xml" Id="R63a24495a57c4dec" /><Relationship Type="http://schemas.openxmlformats.org/officeDocument/2006/relationships/slide" Target="/ppt/slides/slide1.xml" Id="R6666f4109a9f4dbf" /><Relationship Type="http://schemas.openxmlformats.org/officeDocument/2006/relationships/slide" Target="/ppt/slides/slide2.xml" Id="R40cd139493874ad5" /><Relationship Type="http://schemas.openxmlformats.org/officeDocument/2006/relationships/slide" Target="/ppt/slides/slide3.xml" Id="Re5ff2be9428f4098" /><Relationship Type="http://schemas.openxmlformats.org/officeDocument/2006/relationships/slide" Target="/ppt/slides/slide4.xml" Id="R82b859735db94e8a" /><Relationship Type="http://schemas.openxmlformats.org/officeDocument/2006/relationships/slide" Target="/ppt/slides/slide5.xml" Id="R6f39dac78c1d4d7d" /><Relationship Type="http://schemas.openxmlformats.org/officeDocument/2006/relationships/slide" Target="/ppt/slides/slide6.xml" Id="R1f4f2b5a67904766" /><Relationship Type="http://schemas.openxmlformats.org/officeDocument/2006/relationships/slide" Target="/ppt/slides/slide7.xml" Id="R53b4962e26d445b6" /><Relationship Type="http://schemas.openxmlformats.org/officeDocument/2006/relationships/slide" Target="/ppt/slides/slide8.xml" Id="Rae1037374b034c6d" /><Relationship Type="http://schemas.openxmlformats.org/officeDocument/2006/relationships/slide" Target="/ppt/slides/slide9.xml" Id="R8e006b14e91049b5" /><Relationship Type="http://schemas.openxmlformats.org/officeDocument/2006/relationships/slide" Target="/ppt/slides/slide10.xml" Id="R0458c3760be54347" /><Relationship Type="http://schemas.openxmlformats.org/officeDocument/2006/relationships/slide" Target="/ppt/slides/slide11.xml" Id="R43b100d84a3a4f08" /><Relationship Type="http://schemas.openxmlformats.org/officeDocument/2006/relationships/slide" Target="/ppt/slides/slide12.xml" Id="R27a783896a884703" /><Relationship Type="http://schemas.openxmlformats.org/officeDocument/2006/relationships/slide" Target="/ppt/slides/slide13.xml" Id="R2fb4f474dc4943f1" /><Relationship Type="http://schemas.openxmlformats.org/officeDocument/2006/relationships/slide" Target="/ppt/slides/slide14.xml" Id="R11aefe3c57504d9b" /><Relationship Type="http://schemas.openxmlformats.org/officeDocument/2006/relationships/slide" Target="/ppt/slides/slide15.xml" Id="R5a002f5ef0994011" /><Relationship Type="http://schemas.openxmlformats.org/officeDocument/2006/relationships/slide" Target="/ppt/slides/slide16.xml" Id="Rf7b2fb475c3844a9" /><Relationship Type="http://schemas.openxmlformats.org/officeDocument/2006/relationships/slide" Target="/ppt/slides/slide17.xml" Id="Ref546e862a12477e" /><Relationship Type="http://schemas.openxmlformats.org/officeDocument/2006/relationships/slide" Target="/ppt/slides/slide18.xml" Id="R4d666bb2c8014a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086ab1c26741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f806108f22428f" /><Relationship Type="http://schemas.openxmlformats.org/officeDocument/2006/relationships/notesMaster" Target="/ppt/notesMasters/notesMaster1.xml" Id="R9398380e8cf847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2a3e2c0a0a476a" /><Relationship Type="http://schemas.openxmlformats.org/officeDocument/2006/relationships/notesMaster" Target="/ppt/notesMasters/notesMaster1.xml" Id="R66861e40ac604b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8069c1192f4bd9" /><Relationship Type="http://schemas.openxmlformats.org/officeDocument/2006/relationships/notesMaster" Target="/ppt/notesMasters/notesMaster1.xml" Id="R34064a71f6d94d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284360fa4d4565" /><Relationship Type="http://schemas.openxmlformats.org/officeDocument/2006/relationships/notesMaster" Target="/ppt/notesMasters/notesMaster1.xml" Id="Ra326a381adfa41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85cbb0b92941e8" /><Relationship Type="http://schemas.openxmlformats.org/officeDocument/2006/relationships/notesMaster" Target="/ppt/notesMasters/notesMaster1.xml" Id="R8d50783b14f54f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d9d6b2e3b2403c" /><Relationship Type="http://schemas.openxmlformats.org/officeDocument/2006/relationships/notesMaster" Target="/ppt/notesMasters/notesMaster1.xml" Id="R0188b09b382145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7ca3dd6b054b57" /><Relationship Type="http://schemas.openxmlformats.org/officeDocument/2006/relationships/notesMaster" Target="/ppt/notesMasters/notesMaster1.xml" Id="Rb32a5bce0e1642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f97e4efdf44b8e" /><Relationship Type="http://schemas.openxmlformats.org/officeDocument/2006/relationships/notesMaster" Target="/ppt/notesMasters/notesMaster1.xml" Id="Ra795b6accc3949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c6535939cb4d5b" /><Relationship Type="http://schemas.openxmlformats.org/officeDocument/2006/relationships/notesMaster" Target="/ppt/notesMasters/notesMaster1.xml" Id="R6edb404bd89242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2a4795ff82438b" /><Relationship Type="http://schemas.openxmlformats.org/officeDocument/2006/relationships/notesMaster" Target="/ppt/notesMasters/notesMaster1.xml" Id="R6e737f08b0a347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f14a8ba2bc4903" /><Relationship Type="http://schemas.openxmlformats.org/officeDocument/2006/relationships/notesMaster" Target="/ppt/notesMasters/notesMaster1.xml" Id="R877ba37011d548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c337ba92bc434f" /><Relationship Type="http://schemas.openxmlformats.org/officeDocument/2006/relationships/notesMaster" Target="/ppt/notesMasters/notesMaster1.xml" Id="Rb19044fac10044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0133b1fa2d2469d" /><Relationship Type="http://schemas.openxmlformats.org/officeDocument/2006/relationships/notesMaster" Target="/ppt/notesMasters/notesMaster1.xml" Id="R8b6f9d3ad9cb42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169f79e6a84510" /><Relationship Type="http://schemas.openxmlformats.org/officeDocument/2006/relationships/notesMaster" Target="/ppt/notesMasters/notesMaster1.xml" Id="Rcfe76d113e3c4f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3ce1d6329f6467c" /><Relationship Type="http://schemas.openxmlformats.org/officeDocument/2006/relationships/notesMaster" Target="/ppt/notesMasters/notesMaster1.xml" Id="R0737e7a5fc504a3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90cf15c2bed49e8" /><Relationship Type="http://schemas.openxmlformats.org/officeDocument/2006/relationships/notesMaster" Target="/ppt/notesMasters/notesMaster1.xml" Id="R22f9ae6fbe474a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73b407f453643e6" /><Relationship Type="http://schemas.openxmlformats.org/officeDocument/2006/relationships/notesMaster" Target="/ppt/notesMasters/notesMaster1.xml" Id="R1d87256839744cb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104b9904ec54369" /><Relationship Type="http://schemas.openxmlformats.org/officeDocument/2006/relationships/notesMaster" Target="/ppt/notesMasters/notesMaster1.xml" Id="R8eb1d766f2944d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bd4e99c84449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c736ccaa694509" /><Relationship Type="http://schemas.openxmlformats.org/officeDocument/2006/relationships/slideLayout" Target="/ppt/slideLayouts/slideLayout1.xml" Id="R0edf529bc1f94e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df529bc1f94e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8e7ce535b4e13" /><Relationship Type="http://schemas.openxmlformats.org/officeDocument/2006/relationships/notesSlide" Target="/ppt/notesSlides/notesSlide1.xml" Id="R80baa58c5c2b4d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2d26cf3ac44ab" /><Relationship Type="http://schemas.openxmlformats.org/officeDocument/2006/relationships/notesSlide" Target="/ppt/notesSlides/notesSlide2.xml" Id="R7f4ade36f1e041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1dd98357e47a9" /><Relationship Type="http://schemas.openxmlformats.org/officeDocument/2006/relationships/notesSlide" Target="/ppt/notesSlides/notesSlide3.xml" Id="R3463064d7c4c45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eb11bfc0e4d97" /><Relationship Type="http://schemas.openxmlformats.org/officeDocument/2006/relationships/notesSlide" Target="/ppt/notesSlides/notesSlide4.xml" Id="Rd7abb15c2ec14b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cccb4817044eb" /><Relationship Type="http://schemas.openxmlformats.org/officeDocument/2006/relationships/notesSlide" Target="/ppt/notesSlides/notesSlide5.xml" Id="Re0af127b64d54c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1370339884da6" /><Relationship Type="http://schemas.openxmlformats.org/officeDocument/2006/relationships/notesSlide" Target="/ppt/notesSlides/notesSlide6.xml" Id="R3c581258ae7d49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85138b86f4ac5" /><Relationship Type="http://schemas.openxmlformats.org/officeDocument/2006/relationships/notesSlide" Target="/ppt/notesSlides/notesSlide7.xml" Id="Rec50cc5fe1d74d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103e1e5264bfd" /><Relationship Type="http://schemas.openxmlformats.org/officeDocument/2006/relationships/notesSlide" Target="/ppt/notesSlides/notesSlide8.xml" Id="Rd295062a85324a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140b8d29148b9" /><Relationship Type="http://schemas.openxmlformats.org/officeDocument/2006/relationships/notesSlide" Target="/ppt/notesSlides/notesSlide9.xml" Id="Rc2de1cb0436c42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1447e93844e9a" /><Relationship Type="http://schemas.openxmlformats.org/officeDocument/2006/relationships/notesSlide" Target="/ppt/notesSlides/notesSlide10.xml" Id="R273a019bf0fe4f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1e8f79bc145c4" /><Relationship Type="http://schemas.openxmlformats.org/officeDocument/2006/relationships/notesSlide" Target="/ppt/notesSlides/notesSlide11.xml" Id="R9c99f11cbfc94f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ceaf9f71947eb" /><Relationship Type="http://schemas.openxmlformats.org/officeDocument/2006/relationships/notesSlide" Target="/ppt/notesSlides/notesSlide12.xml" Id="R0dd6bef0ff3a467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9299f855b4e64" /><Relationship Type="http://schemas.openxmlformats.org/officeDocument/2006/relationships/notesSlide" Target="/ppt/notesSlides/notesSlide13.xml" Id="Rade311c190be406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fe61fd7364352" /><Relationship Type="http://schemas.openxmlformats.org/officeDocument/2006/relationships/notesSlide" Target="/ppt/notesSlides/notesSlide14.xml" Id="R11053bef1e0846b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ddc8fdc274a11" /><Relationship Type="http://schemas.openxmlformats.org/officeDocument/2006/relationships/notesSlide" Target="/ppt/notesSlides/notesSlide15.xml" Id="Rf546df37489d4cd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f78bf1c474cb4" /><Relationship Type="http://schemas.openxmlformats.org/officeDocument/2006/relationships/notesSlide" Target="/ppt/notesSlides/notesSlide16.xml" Id="Ra3e6e1ca4e91406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d43c21c1b4a9e" /><Relationship Type="http://schemas.openxmlformats.org/officeDocument/2006/relationships/notesSlide" Target="/ppt/notesSlides/notesSlide17.xml" Id="R30d12cba140f4be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b83474fba4016" /><Relationship Type="http://schemas.openxmlformats.org/officeDocument/2006/relationships/notesSlide" Target="/ppt/notesSlides/notesSlide18.xml" Id="Re17135e088774c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31750C-B0C0-4DAC-92D0-30BFB9F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FB721-04A9-427D-91F7-300FFE7A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37258-0F63-4027-90DB-4DC330F3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A46B6-6BD6-4D0F-A887-8C8AC748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213F4-7C2E-43F0-8125-E9A12EAD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5F7D5-98C8-4F95-9EC3-FA871C8A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1ED0F-B85F-42EB-81B5-C94208C5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549C0-7727-42F7-90D6-C401ADEF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6DA95-23D3-4E91-90AE-756B6390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CAF17E-9ECF-4FF8-BCC0-FC1EBDF5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53D6A-9817-48EF-9AD9-42452371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298DE-7908-43EF-BC28-6C36BA27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2E233-CF53-49A5-B24A-6FFAADFF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07271-3DA7-4E11-BCE2-01C74E25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A8101A-5C45-4AD0-92DE-699FD53C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328A63-540D-4462-8064-17F1F879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ED2BF-E58D-4A7A-91D7-FFF7F761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11B278-8472-40CA-B8F8-D2A6593F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7D67A-B2F9-44DD-A912-3B305986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A0A7AD-9802-4583-822E-F5BDABA4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2F5E7B-0BB6-49BF-A8B9-9C005631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E47A0B-635F-46E5-9FED-9BED9908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C5487C-549B-4FF0-875B-5D42417C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969A2C-6F24-49F9-82F4-8917331F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3A5452-1F95-4D7F-957C-4FCD5168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D9919F-061C-4D85-9B15-7357FCF4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A088CE-E625-4054-AC28-6A7AA5AB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FB9054-11B7-408A-B4F4-A76489B1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53CF3E-212C-49F4-B143-0F45B419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3B3AEA-DAD6-46AF-AF45-293C3560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E4F985-6823-4633-945E-9AC3B44F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7C19CB-6B64-4247-8B63-3AE0459E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E42CF2-466A-4FC4-80D9-506D19B4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923727-70C4-4FB2-9E1B-E24F4873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A7132A-73CE-4097-BE8D-77B1BD5E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F34A7E-9466-4261-B420-84D7AE79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147663-5670-4AC7-AB09-8581F768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6EBC34-A739-492E-835C-720DA5B3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467766-DEFD-4801-A111-4A563AE8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040C7B-33E9-4E74-A3E5-1DF56D70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C43B8D-A867-4398-B8BB-DB919E78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4CFB61-1C61-44DB-BD69-C5C61914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F436A3-2317-42B6-B9A4-84702D14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E3D1BE-A4D1-47CE-B507-9B5B6E55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4807AF-6842-4AE4-9B76-5F008139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0853D8-5B0A-4CD6-82FD-00A99675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33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FD365F-11B7-4FD3-A926-81130B51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29E530-4149-4649-8435-3979C516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57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889D08-E327-415F-A487-16A2E6EA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1295C2A-7819-4E3F-9D28-8561C6FD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81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07514B-12CE-47B6-BD45-48E9B527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992CEA-3432-4D58-A52D-E615A365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899C5C-76F5-4400-94B3-18B34ED6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53E647E-5CC3-4274-8131-E83D7A80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4DD6942-4907-49D0-9C11-EE247FE3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D56251D-BE30-4E97-B62B-BE663A6F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A19E50-9FF6-48CB-9B36-02C1374F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C2125B9-845E-4821-991F-8F598705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512AA7E-D578-417A-B4C4-688A72F0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E4AB3ED-4FC0-4A3B-87E7-84972071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E96BB13-094C-4883-919B-C2E0DC73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8CC2291-E2E0-4596-BB8B-6DCBB5AC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8CDCA1-819D-4A93-9509-59296782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946DDE7-26CF-4301-9C9C-ACE6F207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E3835F8-1D6B-4237-A0C2-F9C0227F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94DEAC6-7DBE-40F4-963A-1DC8A280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2DC53F2-B863-490A-9206-D1AF3B06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25EB4F3-09C9-4F47-8014-EE24F61E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71BF9BD-AAA3-4210-856B-16DBB476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68A255F-B55B-47EA-A5B9-8FB8C6F6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54D7CE4-E7AB-43DC-8C0D-13D5DEED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A31A0D2-6D93-49A8-BC0F-2FC9EB18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9906000" cy="3143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78D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1754EDE-7F86-4F18-84A1-A616C98E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7200"/>
            <a:ext cx="9906000" cy="2667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8CFF4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103C098-7FA5-4F57-A4C0-2975C6FB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66750"/>
            <a:ext cx="8763000" cy="2095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C2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26D0255-951A-4D9A-B33B-8D3D86BB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BA1898D-E6AA-4C4F-A849-94B2990F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0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7787024-AFC3-442C-A257-B3F4E1B9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19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6E7BA50-156F-4DBD-BEA4-5BA8E17B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2001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511"/>
          </a:solidFill>
          <a:ln xmlns:a="http://schemas.openxmlformats.org/drawingml/2006/main" w="11906">
            <a:solidFill>
              <a:srgbClr val="8CF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14194D1-214F-4229-9C91-2967A355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CFF45"/>
                </a:solidFill>
              </a:defRPr>
            </a:pPr>
            <a:r>
              <a:rPr sz="975" b="1">
                <a:solidFill>
                  <a:srgbClr val="8CFF45"/>
                </a:solidFill>
              </a:rPr>
              <a:t>Версия 2.0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DB164F7-ABEE-48DB-9D9E-C0CEDDBD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562100"/>
            <a:ext cx="67627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850" b="1">
                <a:solidFill>
                  <a:srgbClr val="FFFFFF"/>
                </a:solidFill>
              </a:defRPr>
            </a:pPr>
            <a:r>
              <a:rPr sz="885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D2B2F4C-7272-4664-A912-4CA95F9D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0990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FBF7"/>
                </a:solidFill>
              </a:defRPr>
            </a:pPr>
            <a:r>
              <a:rPr sz="3150" b="1">
                <a:solidFill>
                  <a:srgbClr val="F5FBF7"/>
                </a:solidFill>
              </a:rPr>
              <a:t>Маркетинг-план и финмодель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F5025A2-8B84-4D82-9254-6ADD090E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33800"/>
            <a:ext cx="643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D7E0DC"/>
                </a:solidFill>
              </a:defRPr>
            </a:pPr>
            <a:r>
              <a:rPr sz="1725">
                <a:solidFill>
                  <a:srgbClr val="D7E0DC"/>
                </a:solidFill>
              </a:rPr>
              <a:t>Тарифы   •   PV   •   бонусы   •   статусы   •   фонды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70916E2-8D10-4841-A97C-529E489E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5775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6131A"/>
          </a:solidFill>
          <a:ln xmlns:a="http://schemas.openxmlformats.org/drawingml/2006/main" w="11906">
            <a:solidFill>
              <a:srgbClr val="16B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F24818E-9E73-41AC-A609-34C7C80A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0863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018"/>
          </a:solidFill>
          <a:ln xmlns:a="http://schemas.openxmlformats.org/drawingml/2006/main" w="11430">
            <a:solidFill>
              <a:srgbClr val="16B8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FAD23A9-CBF1-479A-8ED2-BF5CD1D0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1816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B8FF"/>
                </a:solidFill>
              </a:defRPr>
            </a:pPr>
            <a:r>
              <a:rPr sz="1875" b="1">
                <a:solidFill>
                  <a:srgbClr val="16B8FF"/>
                </a:solidFill>
              </a:rPr>
              <a:t>◇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3BA192B-56A3-4E33-8881-019C6BE4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0292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EBBB5"/>
                </a:solidFill>
              </a:defRPr>
            </a:pPr>
            <a:r>
              <a:rPr sz="1350">
                <a:solidFill>
                  <a:srgbClr val="AEBBB5"/>
                </a:solidFill>
              </a:rPr>
              <a:t>PRO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1B55050-00E5-4054-B624-24FA059C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2768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BF7"/>
                </a:solidFill>
              </a:defRPr>
            </a:pPr>
            <a:r>
              <a:rPr sz="2100" b="1">
                <a:solidFill>
                  <a:srgbClr val="F5FBF7"/>
                </a:solidFill>
              </a:rPr>
              <a:t>$300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09D3FE8-5F03-4686-A3E3-0A341F64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5775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B1A12"/>
          </a:solidFill>
          <a:ln xmlns:a="http://schemas.openxmlformats.org/drawingml/2006/main" w="11906">
            <a:solidFill>
              <a:srgbClr val="8CF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EC0DECF-E4BF-4615-9E64-5AC07AFC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863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8CFF4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F38B15B-80BC-4E71-A37B-9054625D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1816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CFF45"/>
                </a:solidFill>
              </a:defRPr>
            </a:pPr>
            <a:r>
              <a:rPr sz="1500" b="1">
                <a:solidFill>
                  <a:srgbClr val="8CFF45"/>
                </a:solidFill>
              </a:rPr>
              <a:t>5×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06EFD48-1CEB-4155-8D7C-BFD19CEE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292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EBBB5"/>
                </a:solidFill>
              </a:defRPr>
            </a:pPr>
            <a:r>
              <a:rPr sz="1350">
                <a:solidFill>
                  <a:srgbClr val="AEBBB5"/>
                </a:solidFill>
              </a:rPr>
              <a:t>5 линий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99A6761-B19E-470E-A2D6-E01F3105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76850"/>
            <a:ext cx="81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BF7"/>
                </a:solidFill>
              </a:defRPr>
            </a:pPr>
            <a:r>
              <a:rPr sz="2100" b="1">
                <a:solidFill>
                  <a:srgbClr val="F5FBF7"/>
                </a:solidFill>
              </a:rPr>
              <a:t>× 5%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EFAA5AA-BA98-4626-AEEB-80A9F441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5775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6131A"/>
          </a:solidFill>
          <a:ln xmlns:a="http://schemas.openxmlformats.org/drawingml/2006/main" w="11906">
            <a:solidFill>
              <a:srgbClr val="16B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8E08965-6EFA-41C7-99DD-207EE85E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863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018"/>
          </a:solidFill>
          <a:ln xmlns:a="http://schemas.openxmlformats.org/drawingml/2006/main" w="11430">
            <a:solidFill>
              <a:srgbClr val="16B8F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6996449-95D1-469C-B98A-5B1C34B2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625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B8FF"/>
                </a:solidFill>
              </a:defRPr>
            </a:pPr>
            <a:r>
              <a:rPr sz="1950">
                <a:solidFill>
                  <a:srgbClr val="16B8FF"/>
                </a:solidFill>
              </a:rPr>
              <a:t>$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E1977B8-AB0E-41A3-9D47-D1CDAEE4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292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EBBB5"/>
                </a:solidFill>
              </a:defRPr>
            </a:pPr>
            <a:r>
              <a:rPr sz="1350">
                <a:solidFill>
                  <a:srgbClr val="AEBBB5"/>
                </a:solidFill>
              </a:rPr>
              <a:t>1 PV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1AAF484-655D-48FC-A670-EC79F132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768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BF7"/>
                </a:solidFill>
              </a:defRPr>
            </a:pPr>
            <a:r>
              <a:rPr sz="2100" b="1">
                <a:solidFill>
                  <a:srgbClr val="F5FBF7"/>
                </a:solidFill>
              </a:rPr>
              <a:t>= $1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D450B53-1E05-48F7-BB92-CBA263F3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2293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AEBBB5"/>
                </a:solidFill>
              </a:defRPr>
            </a:pPr>
            <a:r>
              <a:rPr sz="1200">
                <a:solidFill>
                  <a:srgbClr val="AEBBB5"/>
                </a:solidFill>
              </a:rPr>
              <a:t>Презентация партнёрской системы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2688B46-2198-4A63-9D53-82165272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69433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2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735F0D-1C27-4F04-A895-6F17475D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3923F-3DA3-4377-82EF-6D8F52AD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A0F56-EA87-4D3F-968D-9AAA8C8C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20D27-8B65-414C-8A9A-6D473072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59A60-7761-49F3-B91A-000B0231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32A4D-6FDD-478A-BC0E-55FAAC2A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053B4-1E9A-4705-BBB0-3AF9A574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A7940-EA49-49FE-B2FB-40FE3437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BAD76-F2B6-4AE9-AB7C-FCCF13CC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46FC0-93B0-4991-BF89-E4DBA2C1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71414-DAB2-4237-AB44-B41B0149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CA897E-E320-4342-B1C3-30B9B192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74C4C-DC29-4AB8-BEAB-FC4B78CE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7D78A4-7174-46CB-BA95-32EF9347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1AADD-BD4C-467E-AE9F-A27FF9B1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7E3511-007A-4388-9D35-0D939528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FD9D6B-9F70-4C83-844B-D6675EE6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FFBBF1-2A51-4142-BDA4-9DA24561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5D133F-2CA2-4E7D-9118-7FA4001D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B9289D-3A98-474D-86B5-6D24EDA3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F69CEB-5EA8-425E-A315-6C5B060D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44E659-1D32-492A-8EB5-A2732CD6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63B999-B6AB-487F-B744-EE153378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DCAC87-8C14-49E1-9FBF-CBB8F3E2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C7ED03-8205-4A7C-9E1C-5AC82459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2F47A1-E9B4-4CA5-B65A-34F465CD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F1FDBC-8921-425A-AB25-3C305379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A6E4ED-0A9E-4B9B-845F-4769678C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EBA97F-4533-43AA-B48F-A4F33631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F81EBF-926B-4307-B8FD-5BB9DDAD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749200-0965-43BE-907A-A54644B7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E291F8-DD06-4EEF-9B73-2299E067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5C83A3-64C7-472B-84B1-63600E9B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67D15E-CBB5-4936-AC06-F003947E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6581FC-6014-4C2B-B467-32D08C6E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44047D-8951-4391-A34B-CE2F7B8B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3083D5-BE62-43BB-8950-3F1FFFE8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789ED6-4CA5-4878-AEE1-192F13B0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3C5684-EC30-4FB0-A6EF-C939BE56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9FC137-BB23-4788-958D-5D78B601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8DE7B7-BD05-4C38-BE5A-3C418536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BCDCF4-1820-4099-B364-DB67202B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DEBA90-5626-4051-8BA9-10BE7431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526208-D737-4700-8C29-1F9BCCFB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5C9041-9744-4FF8-B5E1-C5EAC7A8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356C41-3411-466E-B31E-7112A139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33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AF8631-E0DD-4164-8EE9-3EF5FBD1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01504A1-7181-4E2E-86D4-9A4DDD04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57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45EE913-19E8-4E8E-934B-EFAC704E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B976BD-8C53-4428-86F0-902794A5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81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66C972E-03EC-4204-BD60-4D121DAF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1ADA5E-1529-467A-AE31-1AFF2E84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13D46F8-72E9-4E65-B613-AC7A235B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542B84-EB60-4BD8-81D2-7ADC4246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39B0ACF-E1BC-4787-953D-180033AB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6B3A3B-1BED-4339-B82E-2D9CF3F5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0437419-924F-473B-B40A-5CB449BD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1F05AA4-7C05-42B9-9818-00DA2582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F20F244-5927-4773-9359-B74F4A03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A877D04-8941-4B5C-96C1-894C7221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814A8DA-049D-4A78-9ECF-7EA6F5D0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3C63D5B-B3FF-42FF-9F59-1A17A3D3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6E2ACCF-D819-485C-8FC4-C6D989C5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B8E10C9-035E-41B4-AE4C-A7BB166E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5EF5CC0-71E6-409D-9891-B94D40E5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AB674F4-B7B0-4C9A-B902-AC001B21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0CED975-6262-465B-81DA-066EF530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3D0D3F8-3667-48C5-915B-46A4B4D2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1CA5C14-731A-4FE1-9573-440EEFBD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C7FD9DE-2EF0-42A9-828D-65A3FB74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0F64EFD-16A6-4B2B-8481-4F502C01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0B4F6BF-FCAF-4DE7-8AF4-71EDAB0B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9906000" cy="3143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78D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CB1BF71-C749-4D76-B150-93393D6C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7200"/>
            <a:ext cx="9906000" cy="2667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8CFF4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FAC1C0A-6381-4592-BC04-D3C36AC5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66750"/>
            <a:ext cx="8763000" cy="2095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C2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A084800-8C79-4E9F-A43A-B8615F2F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4B8F591-987A-4DE3-9DEE-13D105C9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0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886C1D8-40CF-4C89-8E9F-DBE30205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19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2DCAF53-C427-4A6A-A7B6-1A0E7317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A342D91-2C21-42EB-96DE-C5C0013E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BBB5"/>
                </a:solidFill>
              </a:defRPr>
            </a:pPr>
            <a:r>
              <a:rPr sz="1200">
                <a:solidFill>
                  <a:srgbClr val="AEBBB5"/>
                </a:solidFill>
              </a:rPr>
              <a:t>02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DC4DFCB-658A-43C7-8698-DF22E5DE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67EBA98-205B-4857-83CA-05997198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CFF45"/>
                </a:solidFill>
              </a:defRPr>
            </a:pPr>
            <a:r>
              <a:rPr sz="1050" b="1">
                <a:solidFill>
                  <a:srgbClr val="8CFF45"/>
                </a:solidFill>
              </a:rPr>
              <a:t>КАРТА ПРЕЗЕНТАЦИИ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56C7D34-AF86-4B0F-A2EF-88B4FCEB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5FBF7"/>
                </a:solidFill>
              </a:defRPr>
            </a:pPr>
            <a:r>
              <a:rPr sz="3600" b="1">
                <a:solidFill>
                  <a:srgbClr val="F5FBF7"/>
                </a:solidFill>
              </a:rPr>
              <a:t>КАК УСТРОЕНА ЭКОНОМИКА CODE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22BE896-A0E3-44D4-A3FA-2658A6D0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466850"/>
            <a:ext cx="847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7E0DC"/>
                </a:solidFill>
              </a:defRPr>
            </a:pPr>
            <a:r>
              <a:rPr sz="1575">
                <a:solidFill>
                  <a:srgbClr val="D7E0DC"/>
                </a:solidFill>
              </a:rPr>
              <a:t>Презентация собрана как навигационная модель: сначала вход и начисления, затем командная механика, правила контроля и стресс-тест выплат.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94F6C0F-4A74-483F-9B5A-E608E36C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81250"/>
            <a:ext cx="27241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1233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1A888D5-DE14-4E06-AAE6-FB757A8D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7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CFF45"/>
                </a:solidFill>
              </a:defRPr>
            </a:pPr>
            <a:r>
              <a:rPr sz="1200" b="1">
                <a:solidFill>
                  <a:srgbClr val="8CFF45"/>
                </a:solidFill>
              </a:rPr>
              <a:t>01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4D13782-1EA0-4CD9-904C-1653622D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5527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BF7"/>
                </a:solidFill>
              </a:defRPr>
            </a:pPr>
            <a:r>
              <a:rPr sz="1575" b="1">
                <a:solidFill>
                  <a:srgbClr val="F5FBF7"/>
                </a:solidFill>
              </a:rPr>
              <a:t>Тарифы и вход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E1CC590-D74F-419E-A21B-9964E43A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05125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CODE, PRO, VIP и подписка активности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9417C73-E506-4A2B-AB46-5B0F6F73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81250"/>
            <a:ext cx="27241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1233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7DD2D83-F209-4BE8-BEFB-2AEB2F59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7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CFF45"/>
                </a:solidFill>
              </a:defRPr>
            </a:pPr>
            <a:r>
              <a:rPr sz="1200" b="1">
                <a:solidFill>
                  <a:srgbClr val="8CFF45"/>
                </a:solidFill>
              </a:rPr>
              <a:t>02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A522BA6-334C-4473-8C88-345BA4B9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527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BF7"/>
                </a:solidFill>
              </a:defRPr>
            </a:pPr>
            <a:r>
              <a:rPr sz="1575" b="1">
                <a:solidFill>
                  <a:srgbClr val="F5FBF7"/>
                </a:solidFill>
              </a:rPr>
              <a:t>Начисления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8485E1A-10E7-43FD-8B94-8E24309A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05125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личный бонус, PV и движение по структуре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092D938-6F17-460C-8786-6091BB19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81250"/>
            <a:ext cx="27241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1233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DB11AE9-3F7A-4911-8045-8F1832D7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CFF45"/>
                </a:solidFill>
              </a:defRPr>
            </a:pPr>
            <a:r>
              <a:rPr sz="1200" b="1">
                <a:solidFill>
                  <a:srgbClr val="8CFF45"/>
                </a:solidFill>
              </a:rPr>
              <a:t>03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1E2E28B-8F98-434E-A460-5F5D2546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527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BF7"/>
                </a:solidFill>
              </a:defRPr>
            </a:pPr>
            <a:r>
              <a:rPr sz="1575" b="1">
                <a:solidFill>
                  <a:srgbClr val="F5FBF7"/>
                </a:solidFill>
              </a:rPr>
              <a:t>Командный баланс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68F58D3-268B-482E-A190-0147C733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05125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схлопнутый объём левой и правой ноги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32675EC-6215-4B62-B099-FC2DBC89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7241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71316"/>
          </a:solidFill>
          <a:ln xmlns:a="http://schemas.openxmlformats.org/drawingml/2006/main" w="11906">
            <a:solidFill>
              <a:srgbClr val="1233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5D9F3DE-D69E-436C-BB30-B463704F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CFF45"/>
                </a:solidFill>
              </a:defRPr>
            </a:pPr>
            <a:r>
              <a:rPr sz="1200" b="1">
                <a:solidFill>
                  <a:srgbClr val="8CFF45"/>
                </a:solidFill>
              </a:rPr>
              <a:t>04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FD83881-301C-407B-9739-7419AD6C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767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BF7"/>
                </a:solidFill>
              </a:defRPr>
            </a:pPr>
            <a:r>
              <a:rPr sz="1575" b="1">
                <a:solidFill>
                  <a:srgbClr val="F5FBF7"/>
                </a:solidFill>
              </a:rPr>
              <a:t>Развитие и статусы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CE04389-2499-4031-A203-6A22A24B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29125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быстрый старт, карьера и фонды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C93573B-BE67-497E-BE9B-E95AF4C3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05250"/>
            <a:ext cx="27241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71316"/>
          </a:solidFill>
          <a:ln xmlns:a="http://schemas.openxmlformats.org/drawingml/2006/main" w="11906">
            <a:solidFill>
              <a:srgbClr val="1233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8DA8917-4A7F-49B7-B53A-8219CD17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95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CFF45"/>
                </a:solidFill>
              </a:defRPr>
            </a:pPr>
            <a:r>
              <a:rPr sz="1200" b="1">
                <a:solidFill>
                  <a:srgbClr val="8CFF45"/>
                </a:solidFill>
              </a:rPr>
              <a:t>05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CC1BF66-CEBE-4B8C-967C-238C2CCA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767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BF7"/>
                </a:solidFill>
              </a:defRPr>
            </a:pPr>
            <a:r>
              <a:rPr sz="1575" b="1">
                <a:solidFill>
                  <a:srgbClr val="F5FBF7"/>
                </a:solidFill>
              </a:rPr>
              <a:t>Правила выплат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08FB901-532E-425D-AEE1-D749D93D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29125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холд, возвраты, верификация и антифрод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B31848E-E156-4E29-8ED5-A79B67B1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27241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71316"/>
          </a:solidFill>
          <a:ln xmlns:a="http://schemas.openxmlformats.org/drawingml/2006/main" w="11906">
            <a:solidFill>
              <a:srgbClr val="1233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E5FEFF6-B685-4ADF-966B-82A8A6CB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95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CFF45"/>
                </a:solidFill>
              </a:defRPr>
            </a:pPr>
            <a:r>
              <a:rPr sz="1200" b="1">
                <a:solidFill>
                  <a:srgbClr val="8CFF45"/>
                </a:solidFill>
              </a:rPr>
              <a:t>06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1298E55-272D-41F8-B8D6-EEA5DE95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767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BF7"/>
                </a:solidFill>
              </a:defRPr>
            </a:pPr>
            <a:r>
              <a:rPr sz="1575" b="1">
                <a:solidFill>
                  <a:srgbClr val="F5FBF7"/>
                </a:solidFill>
              </a:rPr>
              <a:t>Финмодель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9006EB5-4FC2-40B2-914C-4C9DD5B6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29125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контрольный сценарий и доля выплат</a:t>
            </a:r>
          </a:p>
        </p:txBody>
      </p:sp>
    </p:spTree>
    <p:extLst>
      <p:ext uri="{BB962C8B-B14F-4D97-AF65-F5344CB8AC3E}">
        <p14:creationId xmlns:p14="http://schemas.microsoft.com/office/powerpoint/2010/main" val="16111117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55568F-A066-4E7A-9FB5-FB17AE3C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BAFB7-92B3-4773-9150-34EA2FC4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D9E4E-0581-4406-85E2-10ED8824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317F2-A17A-4758-9F87-FEC9E7E2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E2781-ADD8-40D9-92CD-AFC2C5B3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B7F63-1E50-4DB3-9DF8-8A4042CC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ABDD3-3C5A-4B70-B47C-165AC776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57D74-C2F3-47D2-968F-7AD085F1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08B19-BABC-42E1-8B38-756707E1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DFC54-3985-49D1-89F8-FE41077F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E7DC0-4EEE-4E6C-A2A6-1D481C22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B9711-816A-45F5-B2CB-0C049453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7EA66-9719-4BBB-B53C-FDE11312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01263-9ED9-4B8E-879D-36C9468D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CEF99-39F5-41EC-B1C6-947C3CEC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CCC6B-6E7C-4B4B-89B5-ED8146D2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1D1CD7-D8A0-4EA5-B548-2A9164C0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D07297-C377-4327-8473-7E8485B2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EDAFC9-F706-4000-921D-8841D0B8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951A68-9121-4C27-9A78-020EC2E8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1034FD-E02B-4CE3-BBB3-3845AC04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026C1C-FAF9-4858-A136-C34C59AC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A5198E-B5B3-467C-9529-08072B03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DB03C6-95B3-4AA4-81E7-D6A476F6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C564A3-5453-4161-8FC3-3300AFBB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1B3743-272C-4005-9E87-477937FC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3B07D1-8A30-4021-B12A-A05C2383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11B4C8-BD22-4840-9875-DD3DDF74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80875B-7398-4D92-9D71-E82215D3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A3F6A1-F083-49E4-85EC-C96809A5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4CA6D3-68A6-4B00-9568-2A49CA4B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A65A24-2A7F-45B1-8B55-BBECC5AE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DF1320-1BA7-4C37-8E0B-686A5212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284AC8-AF48-455F-94DD-16CCAFF7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ABFE7E-34C2-4FA7-8735-93E3581A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245669-0ECA-4881-8F4A-E663237F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CEC1D7-3367-4EC8-B46B-03361DE7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5D67D8-C9CD-4964-BF06-2F557AE1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03EF93-BEFE-49C6-9711-0DEBEBF2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B2E059-B230-49C2-AAB9-09A418EF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3D9B77-D520-4D7D-B733-22FDCF16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5C3E4A-3D6A-427B-8A1A-7FF427EB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20EAF5-C8FA-47CC-9DA6-D33541E4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0FBF9E-21CD-4C1C-B1C6-8DA1B1AB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BCED24-25CF-43B5-B83C-029F7876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461DF4-CA74-4BFF-95D7-5C0FEBF1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33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AAE5C9-A1FC-414E-8CA8-B87D8708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228E4E-96DA-444C-A1DB-76CCAC33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57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B57360-5F5F-4C91-A1DB-18B18420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CC5B03E-839B-4995-858C-0D33E50D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81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E91409-3AA4-42D0-9A61-717FFF9D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27E6FA-D4F9-4CDB-807B-3715FE33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DC4994-BFEB-44AE-BA52-C2D3D270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444476-211A-4A4B-BE60-53AD1F34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F9CF617-5120-4665-B80B-5F73FB76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43EB1C7-8294-4560-8A11-7722C573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A1F3247-FD12-401E-991C-DA008FBE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329D46D-1EAE-483D-96B0-2E6E7F91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050F220-1696-459E-8E08-B04B910F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1BE8CFF-58D4-41B6-8267-6725FD9A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2B5C257-8098-42FC-AC52-048B02AA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F2574F4-F1B7-4DC6-B077-D5F8DEFE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03F6677-4177-441D-95EF-6FF66BD6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67D17E1-264A-4E02-B8CC-F06DEC24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BF30D3E-D90F-46EF-BA91-C617916E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8170D42-5869-4656-AF63-179B6E67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67A055A-3ADB-472F-93BC-B48D64BB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56442E7-EC19-4EB0-A7AE-08C1D2C9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2CA7589-7B06-4AA5-B4A4-CE0F911B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7793E33-1BBD-4D5E-B7F9-A6647BE6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9D7927A-5401-4076-9E53-A5910FCC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5FD72DF-D90F-4C0F-A7A7-C15DF304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9906000" cy="3143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78D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4A2439D-727D-4C81-B662-DAC02251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7200"/>
            <a:ext cx="9906000" cy="2667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8CFF4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73D9393-D4DE-4527-8DAF-358CC847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66750"/>
            <a:ext cx="8763000" cy="2095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C2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8BB21FB-1D2B-4798-83BF-94E1514E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646D0DD-5F5E-434C-8A41-A0499BBD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0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F9756D1-C332-45AC-BFA1-3EF2B4F6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19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DB0405E-E6A7-4F77-A780-13CEBDB3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FE20051-1B61-4A0A-855C-BCACE432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BBB5"/>
                </a:solidFill>
              </a:defRPr>
            </a:pPr>
            <a:r>
              <a:rPr sz="1200">
                <a:solidFill>
                  <a:srgbClr val="AEBBB5"/>
                </a:solidFill>
              </a:rPr>
              <a:t>03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1790C79-ED34-486D-BA5A-D04269B4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45F7168-7F6D-484C-AC03-C7F97FE2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CFF45"/>
                </a:solidFill>
              </a:defRPr>
            </a:pPr>
            <a:r>
              <a:rPr sz="1050" b="1">
                <a:solidFill>
                  <a:srgbClr val="8CFF45"/>
                </a:solidFill>
              </a:rPr>
              <a:t>ТАРИФЫ И ПРОДУКТОВАЯ ЛИНЕЙКА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156C91B-E4E6-4177-B0BF-F2CDA81D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5FBF7"/>
                </a:solidFill>
              </a:defRPr>
            </a:pPr>
            <a:r>
              <a:rPr sz="3600" b="1">
                <a:solidFill>
                  <a:srgbClr val="F5FBF7"/>
                </a:solidFill>
              </a:rPr>
              <a:t>ЧЕТЫРЕ ВАРИАНТА ВХОДА ЗАКРЫВАЮТ РАЗНЫЕ РОЛИ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5DFE634-C06A-427D-8F5A-DC929F02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62150"/>
            <a:ext cx="2076450" cy="323850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071316"/>
          </a:solidFill>
          <a:ln xmlns:a="http://schemas.openxmlformats.org/drawingml/2006/main" w="11906">
            <a:solidFill>
              <a:srgbClr val="1233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BB827C8-7764-42E8-AFE1-5A840A5F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B9A20BC-4886-42F9-863E-B130C351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812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CODE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7067F2D-7509-48DF-B7DB-EE4E8034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7622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5FBF7"/>
                </a:solidFill>
              </a:defRPr>
            </a:pPr>
            <a:r>
              <a:rPr sz="2925" b="1">
                <a:solidFill>
                  <a:srgbClr val="F5FBF7"/>
                </a:solidFill>
              </a:rPr>
              <a:t>$50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0ECE1AA-A2CB-486E-96C3-1856F8FF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/ месяц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73A5B74-6BC2-406C-9461-9FAA2471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7185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Базовый доступ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805F0B1-1749-4718-8005-FD4EA82F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0C21C41-2AE1-46C5-A835-FA41F110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195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ограниченные курсы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AB7CE7F-A7FF-444C-9E33-BCDCD974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381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32C5729-6F58-4AB3-AA5C-F0C54A86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434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базовые AI-токены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38CA5C1-FBC5-4F10-806C-634FCC82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705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09C3C57-3804-4D44-B356-7FC261C7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67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без партнёрской программы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870FA7F-1C05-4C8C-9727-4C7CAED4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62150"/>
            <a:ext cx="2076450" cy="323850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183123"/>
          </a:solidFill>
          <a:ln xmlns:a="http://schemas.openxmlformats.org/drawingml/2006/main" w="11906">
            <a:solidFill>
              <a:srgbClr val="1233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441D9E7-68FD-4560-9A0D-080D596E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D8D708C-BEC9-42D8-ACB4-2D281473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812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PRO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073D266-981C-48FC-936D-D52FADE4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622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5FBF7"/>
                </a:solidFill>
              </a:defRPr>
            </a:pPr>
            <a:r>
              <a:rPr sz="2925" b="1">
                <a:solidFill>
                  <a:srgbClr val="F5FBF7"/>
                </a:solidFill>
              </a:rPr>
              <a:t>$300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B89EBC7-C85B-4193-8579-8CB1B8C6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5CAF7DE-ECAB-4BBC-82E9-2206F5B4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7185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Основной партнёрский пакет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DE0A7E3-ED5C-4384-B522-618ABF31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165F87A-DC82-4D30-98A4-415A9573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195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полный доступ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64E21D1-29C9-4AA0-A7BB-5851EE1D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81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DA56298-8E26-4502-BA23-B1C27ADF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434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партнёрская программа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0A2A8B9-037E-49E2-BF27-6AF2E202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05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8B1EB79-1895-4132-914C-0C249350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67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структура и выплаты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CC0F9AB-E3E6-4413-A2AC-06A4D615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62150"/>
            <a:ext cx="2076450" cy="323850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071316"/>
          </a:solidFill>
          <a:ln xmlns:a="http://schemas.openxmlformats.org/drawingml/2006/main" w="11906">
            <a:solidFill>
              <a:srgbClr val="1233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6104140-71FF-4259-B3DF-C97CBC9F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13D3A7F-6E4C-4239-8745-0884A9A4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812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VIP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0225BA2-8506-42FF-8606-394BE9E4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622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5FBF7"/>
                </a:solidFill>
              </a:defRPr>
            </a:pPr>
            <a:r>
              <a:rPr sz="2925" b="1">
                <a:solidFill>
                  <a:srgbClr val="F5FBF7"/>
                </a:solidFill>
              </a:rPr>
              <a:t>$900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EB9866F-8C64-482B-AF83-0BFF8FDC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146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5C6BF39-A29A-4620-A2E5-7B9402F8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7185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Расширенный пакет на 12 месяцев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51BFA7B-3161-42C6-8E09-C8303D93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A45F6B2-AFD4-4EA8-829F-917DE488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195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всё из PRO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8DB6F9B-E699-42BD-8DE1-408DE357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81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91C0731-A227-459C-A68E-B21A5A93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434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12 месяцев активности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4D4ED5C-CE24-4017-BEBF-B66D0DB1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05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813CC98-2D5E-495B-9CEC-E4C91D40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67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расширенные возможности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045DF3A-30C6-4A5C-A0B6-35540A09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62150"/>
            <a:ext cx="2076450" cy="323850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071316"/>
          </a:solidFill>
          <a:ln xmlns:a="http://schemas.openxmlformats.org/drawingml/2006/main" w="11906">
            <a:solidFill>
              <a:srgbClr val="1233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2CFEC80-6C90-42A6-8DD9-5D16EA11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839DC07-4224-4C40-87E6-C3F68F90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812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Подписка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013E17E-0E62-47E1-A6A1-5246A53E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622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5FBF7"/>
                </a:solidFill>
              </a:defRPr>
            </a:pPr>
            <a:r>
              <a:rPr sz="2925" b="1">
                <a:solidFill>
                  <a:srgbClr val="F5FBF7"/>
                </a:solidFill>
              </a:rPr>
              <a:t>$50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F95BD7E-C61E-49BE-ABB9-7ADB93B7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9146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/ месяц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ECB3BDF-2C36-4E92-9F7D-C0FE0E41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71850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Продление активности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C6C8CF9-9FCA-4262-88AC-083AD48B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F22F92F-C9DA-4F93-AE2D-A1A86EE3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195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со 2-го месяца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6028076-D03C-440D-89C5-10183E76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81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D9192DD-05EF-454C-8C6A-7564CF44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434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сохраняет активность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AA3A243-6160-4BCD-8937-260A49A7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05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91072F4-934A-4427-9B6D-BC6E1B92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67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E0DC"/>
                </a:solidFill>
              </a:defRPr>
            </a:pPr>
            <a:r>
              <a:rPr sz="1275">
                <a:solidFill>
                  <a:srgbClr val="D7E0DC"/>
                </a:solidFill>
              </a:rPr>
              <a:t>участие в начислениях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F83D8C0-4C39-4C9D-B3B2-7CC4D044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6769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Все расчёты внутри модели ведутся в USD. Оплаты и выплаты можно технически привязывать к USDT.</a:t>
            </a:r>
          </a:p>
        </p:txBody>
      </p:sp>
    </p:spTree>
    <p:extLst>
      <p:ext uri="{BB962C8B-B14F-4D97-AF65-F5344CB8AC3E}">
        <p14:creationId xmlns:p14="http://schemas.microsoft.com/office/powerpoint/2010/main" val="15308497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2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C6FCF1-AC40-4FAF-A6EE-911E7832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9EF5A-A639-44D9-A569-BF169E39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7B9DF-9384-441E-8935-3D003E38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97D4D-A150-4038-9C3D-7D1CC38A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10CE8-8909-485A-82CA-3127E9A7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A2274-4582-4AAE-89F6-E7BC0D15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0FF03-978F-4B1E-92DF-1480911D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A4A93-A285-461F-9BFD-8D38B973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E4FE4-50EF-44F5-84E6-0CD24A4B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C9B0F-EB27-444F-ADBA-1DE86DB7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383C5-E7B8-4E82-A679-7E96F062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A0070-C325-4820-A086-B3DB7106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A7A485-CE47-44A1-B1FC-C50D7CFA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CF156-43F6-45F7-A2D0-2F446356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431E4-A77B-4C74-A3AE-3099B6A6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2A9B9-2511-4DCC-A4C1-13898698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B74D21-BA8C-4F24-882F-761CCF11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C5EBC6-BD04-43A7-ACE3-42B71C14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03CBDB-E28F-484E-8EE7-378FB686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95F91F-0E13-4FDE-AB8E-337C4FA9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AADEAE-17AC-4DC7-A71F-463A2578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8CCCBA-473E-4D4C-AF0F-88D1854A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CEE939-90DF-469F-A423-EFC63B06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E101C2-AAE9-49A4-A5A0-C99DF28C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04E0BC-CC5F-4950-B30B-DAA8D4E5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0FAC2E-A0CC-4A69-AEA0-82D4A13A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F97D42-42F9-4B95-9A51-2B01DF37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BFF09C-2088-47EF-8B4F-710136C9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E3F992-84F7-42F9-ACA6-44C5E40A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FF9702-1BB6-4E62-A677-58B1502B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3487AC-5897-499F-9A8B-8E282275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9FF3C9-5B8D-4A59-B766-2B15A941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EBDE1B-CDDB-4FA0-94AB-F513A017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AC41EF-AA34-4146-BAB0-C58ECB86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F97FF0-50D1-46BE-887F-13A21912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DB0454-A1F6-43BF-B211-22B528C1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B15FA0-6D8D-4508-9695-665C2C0D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12B011-09AC-43BA-87FB-7B284F46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ACA5E4-A30F-4E6E-8589-DAC01A08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D15289-0087-4BF3-904D-8261F808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F0B383-1614-4611-AF4F-F8A762E8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4DB929-DFA3-44F7-B897-97E73DE5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ADE45A-7655-49C0-9821-1472F759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15AFFF-41EF-4C5A-800D-9E801FE0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F3FCB7-66D2-4B4E-BE38-A79ADBAE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C44946-6888-4AB1-A9BC-AE2C84D9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33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C77519-B8B4-4F5A-8D8D-AE4051A4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23A7C5-26C0-49A9-97FD-6EAA38B2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57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4EA1E8-342A-4732-9925-71A71223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9F4A07-15B2-4525-85FF-BBA76558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81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A79D76A-B959-4A06-ADA2-26750772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BFF046C-DB9D-4F03-912F-2E3219F2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344621-F360-48A1-ADC7-D155C191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CC14F25-D0AD-4FF9-B5C4-2358AC25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31A25B9-8118-40FC-B50B-59E037E0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8D70E2-7B96-49AA-8236-5656FFAE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E702695-95C3-4C0D-BA0F-1339CB7B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D2D46A4-7B3D-4048-89F4-613E71BD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4091600-2B7F-4140-AE75-F2D1BEA1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CDD05B9-FFA6-407F-8ED0-B140D3DB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9D0D3FF-78C8-480E-A835-C2434459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B2AD264-33D0-43EE-9AB5-920948A2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E382849-DB3E-4FAF-B0A8-2A0154E6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3C7C187-5C40-4278-AD4E-6DBE8CD7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C4DB937-A486-46B7-B2AC-18A0AEF2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6CB19F2-C8B8-4F19-A52C-DE83AAB6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FEBFA8E-03BA-411A-B99D-EE8A45C4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F444D8B-D5E7-4946-8A78-102069DD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726F1B7-1611-4635-8B0F-E0541F06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8E9DB9E-7894-482C-8122-F13A6D67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750A4D9-D971-41E5-AD6F-E7C0EF23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EE8F4AF-E03E-4B7F-88F7-CC26F3DD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9906000" cy="3143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78D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2928E0D-82AD-4BE5-9EB6-427CA2EB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7200"/>
            <a:ext cx="9906000" cy="2667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8CFF4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9BB800F-55AD-4F07-B5BD-67C18623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66750"/>
            <a:ext cx="8763000" cy="2095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C2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A11C4E3-2EFE-43D3-94B5-E66F6821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EE01DC7-B52E-47D3-A319-2D64D16A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0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793EB9D-4ED6-4044-B17B-F1E73A39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19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F4F4155-C383-4FAD-9456-52FBE7D1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971A603-6889-40D9-A483-71880888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BBB5"/>
                </a:solidFill>
              </a:defRPr>
            </a:pPr>
            <a:r>
              <a:rPr sz="1200">
                <a:solidFill>
                  <a:srgbClr val="AEBBB5"/>
                </a:solidFill>
              </a:rPr>
              <a:t>04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BCDACA0-1936-4C99-B713-C221B36D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46D3C61-E452-4F09-95E7-6EE8C011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CFF45"/>
                </a:solidFill>
              </a:defRPr>
            </a:pPr>
            <a:r>
              <a:rPr sz="1050" b="1">
                <a:solidFill>
                  <a:srgbClr val="8CFF45"/>
                </a:solidFill>
              </a:rPr>
              <a:t>КАК НАЧИСЛЯЮТСЯ ДЕНЬГИ И PV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12E63AC-AF96-4131-AFFD-4FC13C9F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5FBF7"/>
                </a:solidFill>
              </a:defRPr>
            </a:pPr>
            <a:r>
              <a:rPr sz="2850" b="1">
                <a:solidFill>
                  <a:srgbClr val="F5FBF7"/>
                </a:solidFill>
              </a:rPr>
              <a:t>КАЖДЫЙ ТАРИФ СОЗДАЁТ ДВЕ СУЩНОСТИ: ДЕНЬГИ И PV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33FF9FB-9B97-4CCD-9998-D66201C3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52625"/>
            <a:ext cx="2076450" cy="26860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071316"/>
          </a:solidFill>
          <a:ln xmlns:a="http://schemas.openxmlformats.org/drawingml/2006/main" w="11906">
            <a:solidFill>
              <a:srgbClr val="1233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A8AFE64-4954-4259-8116-D819CB17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52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B8FF"/>
                </a:solidFill>
              </a:defRPr>
            </a:pPr>
            <a:r>
              <a:rPr sz="1575" b="1">
                <a:solidFill>
                  <a:srgbClr val="16B8FF"/>
                </a:solidFill>
              </a:rPr>
              <a:t>CODE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B6FA388-309F-4001-95B6-819DE145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28900"/>
            <a:ext cx="16573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16B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87F1167-9740-462E-9C0E-80BDB06A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857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9525">
            <a:solidFill>
              <a:srgbClr val="16B8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F272CA4-4816-42A3-A7D7-6695169C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575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цена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4EE8CE2-EE2B-4D41-9540-4E96C581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52775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BF7"/>
                </a:solidFill>
              </a:defRPr>
            </a:pPr>
            <a:r>
              <a:rPr sz="2325" b="1">
                <a:solidFill>
                  <a:srgbClr val="F5FBF7"/>
                </a:solidFill>
              </a:rPr>
              <a:t>$50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3128478-CCCB-495A-A6CE-6FC7BCC7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05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BF7"/>
                </a:solidFill>
              </a:defRPr>
            </a:pPr>
            <a:r>
              <a:rPr sz="1425" b="1">
                <a:solidFill>
                  <a:srgbClr val="F5FBF7"/>
                </a:solidFill>
              </a:rPr>
              <a:t>$10 наставнику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C272677-4A6E-46B7-8C9F-9B52F9C0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38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1 PV в структуру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5812A1B-5EE8-4920-B801-B393FD9E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52625"/>
            <a:ext cx="2076450" cy="26860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071316"/>
          </a:solidFill>
          <a:ln xmlns:a="http://schemas.openxmlformats.org/drawingml/2006/main" w="11906">
            <a:solidFill>
              <a:srgbClr val="1233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EC68B5B-7132-4EA8-9700-8C4ED613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52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8CFF45"/>
                </a:solidFill>
              </a:defRPr>
            </a:pPr>
            <a:r>
              <a:rPr sz="1575" b="1">
                <a:solidFill>
                  <a:srgbClr val="8CFF45"/>
                </a:solidFill>
              </a:rPr>
              <a:t>PRO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BEB9AE1-A396-4C51-91B4-6185A6B2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28900"/>
            <a:ext cx="16573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8CF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8D9AFA5-11B9-4348-BAD8-19FCA6E9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9525">
            <a:solidFill>
              <a:srgbClr val="8CFF4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9301F66-CED7-4EE9-AB07-3805D0F8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575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цена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301802F-2A71-41C6-8D98-33718CC7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52775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BF7"/>
                </a:solidFill>
              </a:defRPr>
            </a:pPr>
            <a:r>
              <a:rPr sz="2325" b="1">
                <a:solidFill>
                  <a:srgbClr val="F5FBF7"/>
                </a:solidFill>
              </a:rPr>
              <a:t>$300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FDF21B1-DC44-46C9-BA68-F90D7460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05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BF7"/>
                </a:solidFill>
              </a:defRPr>
            </a:pPr>
            <a:r>
              <a:rPr sz="1425" b="1">
                <a:solidFill>
                  <a:srgbClr val="F5FBF7"/>
                </a:solidFill>
              </a:rPr>
              <a:t>$90 наставнику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CF8B8C4-EE15-4ED0-8EF3-4584B2DF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38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10 PV в структуру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9DB11DE-569E-42AE-A945-F3BF2B56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2076450" cy="26860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071316"/>
          </a:solidFill>
          <a:ln xmlns:a="http://schemas.openxmlformats.org/drawingml/2006/main" w="11906">
            <a:solidFill>
              <a:srgbClr val="1233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476E4D1-8C82-4EC5-9C25-5EE31254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52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D166"/>
                </a:solidFill>
              </a:defRPr>
            </a:pPr>
            <a:r>
              <a:rPr sz="1575" b="1">
                <a:solidFill>
                  <a:srgbClr val="FFD166"/>
                </a:solidFill>
              </a:rPr>
              <a:t>VIP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D84E582-1BB4-4F97-85EC-94D44AF4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28900"/>
            <a:ext cx="16573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FFD1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C59DC76-DBB4-47FB-BB3E-3E0240D7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78CA669-B246-482F-B0A5-BED36A01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цена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E399300-5E8B-40D2-B320-F5F61CBA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52775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BF7"/>
                </a:solidFill>
              </a:defRPr>
            </a:pPr>
            <a:r>
              <a:rPr sz="2325" b="1">
                <a:solidFill>
                  <a:srgbClr val="F5FBF7"/>
                </a:solidFill>
              </a:rPr>
              <a:t>$900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D53B507-537E-4953-A00F-AE1D3B97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05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BF7"/>
                </a:solidFill>
              </a:defRPr>
            </a:pPr>
            <a:r>
              <a:rPr sz="1425" b="1">
                <a:solidFill>
                  <a:srgbClr val="F5FBF7"/>
                </a:solidFill>
              </a:rPr>
              <a:t>$270 наставнику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49A3261-DFC0-4004-9085-AAD90402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38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30 PV в структуру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102F22E-C85E-4452-BB21-EBE8CC51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52625"/>
            <a:ext cx="2076450" cy="26860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071316"/>
          </a:solidFill>
          <a:ln xmlns:a="http://schemas.openxmlformats.org/drawingml/2006/main" w="11906">
            <a:solidFill>
              <a:srgbClr val="1233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E2D519F-2FE2-41A4-99B7-31E5C567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52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78DFF"/>
                </a:solidFill>
              </a:defRPr>
            </a:pPr>
            <a:r>
              <a:rPr sz="1575" b="1">
                <a:solidFill>
                  <a:srgbClr val="278DFF"/>
                </a:solidFill>
              </a:rPr>
              <a:t>Подписка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22A0362-2D0A-4989-8927-43DC54AC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28900"/>
            <a:ext cx="16573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278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ADD2A39-B93D-42E8-8D90-A42CCC20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9525">
            <a:solidFill>
              <a:srgbClr val="278DF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C445D33-8E09-4AC8-8359-51B276BA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575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цена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671F68E-D0E8-4783-9C25-033A523D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52775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BF7"/>
                </a:solidFill>
              </a:defRPr>
            </a:pPr>
            <a:r>
              <a:rPr sz="2325" b="1">
                <a:solidFill>
                  <a:srgbClr val="F5FBF7"/>
                </a:solidFill>
              </a:rPr>
              <a:t>$50 / мес.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7741F6B-01D2-4896-A66C-8B290A9B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05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BF7"/>
                </a:solidFill>
              </a:defRPr>
            </a:pPr>
            <a:r>
              <a:rPr sz="1425" b="1">
                <a:solidFill>
                  <a:srgbClr val="F5FBF7"/>
                </a:solidFill>
              </a:rPr>
              <a:t>$10 наставнику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2EC8F50-B600-40EB-BAB2-2E739EF3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38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1 PV в структуру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045DD7B-8932-4112-8462-506102F4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19700"/>
            <a:ext cx="77343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511"/>
          </a:solidFill>
          <a:ln xmlns:a="http://schemas.openxmlformats.org/drawingml/2006/main" w="11906">
            <a:solidFill>
              <a:srgbClr val="8CF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1DC5501-420A-4699-99D8-08B405F5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38775"/>
            <a:ext cx="708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7E0DC"/>
                </a:solidFill>
              </a:defRPr>
            </a:pPr>
            <a:r>
              <a:rPr sz="1500">
                <a:solidFill>
                  <a:srgbClr val="D7E0DC"/>
                </a:solidFill>
              </a:rPr>
              <a:t>1 PV = 1 командный балл. 1 закрытый PV = $1. PV поднимаются всем вышестоящим по бинарной структуре.</a:t>
            </a:r>
          </a:p>
        </p:txBody>
      </p:sp>
    </p:spTree>
    <p:extLst>
      <p:ext uri="{BB962C8B-B14F-4D97-AF65-F5344CB8AC3E}">
        <p14:creationId xmlns:p14="http://schemas.microsoft.com/office/powerpoint/2010/main" val="10729922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0225C7-64EB-460A-9FDD-E9E558F9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B7167-C0FD-4F40-A649-C22F540E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E1FA8-2AC0-44C1-B02E-D35B7273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2B53A-944E-4893-AA72-43CEEEE6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6B3A2-DB5D-473F-A8BB-5DFCEBE4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C3CDF-9771-43DC-80FE-CC286C1F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7516F-CFE0-4129-ADF5-DE9680E1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AEC0E-A021-4B41-BD9E-97BF27EA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F3C19-96D0-477B-AA86-3ECA6C4D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DD733-913D-4967-8D8C-B23DAD90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22505-8941-4361-AFCE-67C52D3D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6F5EF7-4281-48A4-88DE-FF29903E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B5DDD1-1D0E-460A-A9B0-B76D8468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DFEA29-EF55-4ED2-9AB0-FDF5D1AF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ADE34-E896-485E-8084-C2E666E0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E20B5-202C-4B5C-A48A-F06C2F22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781F2-FE6A-4ACB-A73D-74B4F1A6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B28DE-5102-45BF-8611-4C1C5A38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39B2AE-B436-4C26-BAD6-4ACE4C9E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A9F1F2-5202-49A3-88C3-69CE4DE1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FF78F4-D71C-4C4E-84C1-A35B1213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7E1FE7-8F0D-4685-A174-EE11D896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87708D-48EB-487E-BD92-F71EB0ED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F7C0C8-62C6-4082-849E-E962ABE7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B84CB6-AF04-41AB-9B7C-BBA3CB46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6AA783-9E67-4C79-A6ED-08430DAC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946A54-9BAD-4910-AAD7-B57D382F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6E21C7-0F58-4DB8-8A32-EBB7A496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D63686-8CBD-437F-8B0F-D99594A2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9620CF-064B-4E95-A263-9D816487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265AC9-AB37-4285-BAFD-6B4EC92F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060077-171B-4CC6-9408-E3EC6C9F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761741-FB8B-4A6F-8E19-503AE5AA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7EAF2A-7385-43EE-B65D-2A169EAA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A3593A-D6EF-4054-AA97-C7836178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2B8AE9-1840-44B4-93F0-FAA72211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8B24E9-E4E9-4735-88C5-E8E39647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933D1E-D996-47B2-B760-45AA7FCA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1AAB63-C413-4024-8BD4-93D8D348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B1E015-FF36-4613-B6EC-33C9AFBD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A3C999-D15D-4F0D-8E7C-93B5E13E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B7D1E2-36CC-4236-94A5-1D8A106C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5C5C8B-26DE-437B-B746-D36AEB46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14F966-6176-4BBC-B581-99523327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26B43E-A576-458C-B6F1-B7082308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6B9686-BB44-46F2-BEBD-97578B6F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33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F40479-303A-473E-B4C6-D37B2703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B6CDAC-A86F-4687-8A99-0FEEAE8C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57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0A39DC-8175-4AB2-A136-0405DF8E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3FDBF69-3B6D-46AA-B2C8-A7BA798B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81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0F2EDF-4984-4BB8-8F87-4988D61E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DDE91A2-0608-4AC5-814E-2343904B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E56312-C790-4EED-B214-142F8C55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7B924FB-6CA2-4358-A0EF-5CA218F1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963EFFB-A608-45D0-80F0-D8278390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EB0FE6-AB49-42D3-B87A-1BF05FBC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FB3E0CB-B8BC-4F84-88C7-2B8DB4F6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8CF7A2E-4C7B-4B39-B934-C34D5BFE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07C2146-3E3D-4A30-AA77-A5BD9FED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947185F-D1A4-4814-A624-CA4B6CEF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BF41013-BF48-40B5-8009-DAA513B6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F4A1126-29FD-4CFD-B5F8-48FED556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447E0BF-AB15-4BD6-A949-9A676B8B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9E6634E-2395-45C9-83AB-B9697D03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0687EB6-6C77-412D-A79B-F297D2E8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FE4D3F0-E576-4E15-9542-CD9B2BA6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15B882B-2986-485E-8B12-73BA1B18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C4784BF-906A-4310-8BB4-3AB375DC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5DAC7F2-9970-41D1-8F32-763373DF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BE37107-EA18-442B-9596-5549BF78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247C496-0158-48AE-9844-1B5683B9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0F26450-9509-4386-9249-7BEFADB6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9906000" cy="3143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78D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7112E50-D7AB-401F-AF82-E235309D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7200"/>
            <a:ext cx="9906000" cy="2667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8CFF4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E47085C-2262-4FBB-A7A6-4A9B8DDC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66750"/>
            <a:ext cx="8763000" cy="2095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C2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497E91D-3492-44D1-B37F-5497A0B8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63A4834-49AB-4E24-A55C-F5FC9DC5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0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45D2F67-41BE-47B9-B8C1-16B23837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19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E6E5600-AC50-4E27-B588-636444DE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EF3E0CC-0FC0-4476-B852-043F1DA1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BBB5"/>
                </a:solidFill>
              </a:defRPr>
            </a:pPr>
            <a:r>
              <a:rPr sz="1200">
                <a:solidFill>
                  <a:srgbClr val="AEBBB5"/>
                </a:solidFill>
              </a:rPr>
              <a:t>05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32A43B9-6D07-4F62-893C-A99CB39E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22DEB61-68FA-4546-AC32-CC1740B7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CFF45"/>
                </a:solidFill>
              </a:defRPr>
            </a:pPr>
            <a:r>
              <a:rPr sz="1050" b="1">
                <a:solidFill>
                  <a:srgbClr val="8CFF45"/>
                </a:solidFill>
              </a:rPr>
              <a:t>ДВИЖЕНИЕ НАЧИСЛЕНИЙ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D267435-2AFB-4875-9ADA-77805C6B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5FBF7"/>
                </a:solidFill>
              </a:defRPr>
            </a:pPr>
            <a:r>
              <a:rPr sz="2850" b="1">
                <a:solidFill>
                  <a:srgbClr val="F5FBF7"/>
                </a:solidFill>
              </a:rPr>
              <a:t>ПУТЬ НАЧИСЛЕНИЙ ДОЛЖЕН БЫТЬ ВИДЕН В ОДНОМ ВЗГЛЯДЕ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E2780C7-34C5-4697-A86B-48871B22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526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A16"/>
          </a:solidFill>
          <a:ln xmlns:a="http://schemas.openxmlformats.org/drawingml/2006/main" w="9525">
            <a:solidFill>
              <a:srgbClr val="2C7D6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4948B06-23C1-49A5-80E1-2EDF4EB0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241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FBF7"/>
                </a:solidFill>
              </a:defRPr>
            </a:pPr>
            <a:r>
              <a:rPr sz="1950" b="1">
                <a:solidFill>
                  <a:srgbClr val="F5FBF7"/>
                </a:solidFill>
              </a:rPr>
              <a:t>1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B73A1DA-2D64-4B8C-9F1E-DFC32288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95550"/>
            <a:ext cx="110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EE19665-8125-4790-A3D9-7083C266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813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Покупка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0AEB06D-53CC-4601-9C67-480F02EF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90925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пользователь оплачивает тариф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19D98DD-3FF5-4D2D-8976-D6EAEE47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526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9525">
            <a:solidFill>
              <a:srgbClr val="8CFF4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29723CE-52E8-4BFA-8988-2EE9BDAE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20708"/>
                </a:solidFill>
              </a:defRPr>
            </a:pPr>
            <a:r>
              <a:rPr sz="1950" b="1">
                <a:solidFill>
                  <a:srgbClr val="020708"/>
                </a:solidFill>
              </a:rPr>
              <a:t>2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59AF242-6898-4233-B00E-EFFA793B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95550"/>
            <a:ext cx="110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FAB36CF-6BC7-4957-BBC7-7011A8B3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813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Личный бонус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8B2E31B-683B-4661-A44C-A0725DB7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90925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наставник получает выплату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A08AC9E-D0DD-4F54-8E92-ED97772B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526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A16"/>
          </a:solidFill>
          <a:ln xmlns:a="http://schemas.openxmlformats.org/drawingml/2006/main" w="9525">
            <a:solidFill>
              <a:srgbClr val="2C7D6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0C919C5-A0B2-440E-900F-483221D4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241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FBF7"/>
                </a:solidFill>
              </a:defRPr>
            </a:pPr>
            <a:r>
              <a:rPr sz="1950" b="1">
                <a:solidFill>
                  <a:srgbClr val="F5FBF7"/>
                </a:solidFill>
              </a:rPr>
              <a:t>3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B94FAB6-4A30-4A28-9675-9AC4A53A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95550"/>
            <a:ext cx="110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4E99BCE-3A26-4BFB-8725-13AEB49B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813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PV в структуру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00C63E9-B837-46CF-9F6D-D04BDCAA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0925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баллы идут вверх по бинару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92BC5A4-8B26-45AC-9642-4FC2C4C3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A16"/>
          </a:solidFill>
          <a:ln xmlns:a="http://schemas.openxmlformats.org/drawingml/2006/main" w="9525">
            <a:solidFill>
              <a:srgbClr val="2C7D62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3E0610E-8E1F-4BF9-8C36-E1442270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241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FBF7"/>
                </a:solidFill>
              </a:defRPr>
            </a:pPr>
            <a:r>
              <a:rPr sz="1950" b="1">
                <a:solidFill>
                  <a:srgbClr val="F5FBF7"/>
                </a:solidFill>
              </a:rPr>
              <a:t>4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2A3D011-36F2-4FCA-A692-112DF33B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95550"/>
            <a:ext cx="110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2432879-A69A-4ED8-B6A2-C2E52210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813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Схлоп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9DF02B8-BF3F-49E1-B1C1-C73D0CF3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90925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левая и правая ноги закрываются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EDA363A-5C1A-48DB-9B5A-C7287855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526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A16"/>
          </a:solidFill>
          <a:ln xmlns:a="http://schemas.openxmlformats.org/drawingml/2006/main" w="9525">
            <a:solidFill>
              <a:srgbClr val="2C7D62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B99F168-EC91-4358-A0A7-6A5CC9B4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241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FBF7"/>
                </a:solidFill>
              </a:defRPr>
            </a:pPr>
            <a:r>
              <a:rPr sz="1950" b="1">
                <a:solidFill>
                  <a:srgbClr val="F5FBF7"/>
                </a:solidFill>
              </a:rPr>
              <a:t>5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9E69F58-F4A5-426C-9C1B-AC4B44A0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813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Бонусы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09B556C-CBA0-41AF-9985-6177FE04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90925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командный бонус и развитие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79B95F4-D09C-42E5-B3DC-3643F327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57750"/>
            <a:ext cx="7429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D1813"/>
          </a:solidFill>
          <a:ln xmlns:a="http://schemas.openxmlformats.org/drawingml/2006/main" w="11906">
            <a:solidFill>
              <a:srgbClr val="8CF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5B741EB-AC08-4E9D-B75D-6ACB04B9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387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8CFF45"/>
                </a:solidFill>
              </a:defRPr>
            </a:pPr>
            <a:r>
              <a:rPr sz="1575" b="1">
                <a:solidFill>
                  <a:srgbClr val="8CFF45"/>
                </a:solidFill>
              </a:rPr>
              <a:t>Главное правило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8671EC2-AFC0-4418-9460-349AA402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62575"/>
            <a:ext cx="670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Личный бонус получает только личный наставник. PV видят все вышестоящие партнёры по фактическому бинарному размещению.</a:t>
            </a:r>
          </a:p>
        </p:txBody>
      </p:sp>
    </p:spTree>
    <p:extLst>
      <p:ext uri="{BB962C8B-B14F-4D97-AF65-F5344CB8AC3E}">
        <p14:creationId xmlns:p14="http://schemas.microsoft.com/office/powerpoint/2010/main" val="7362704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2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229171-8DE9-4008-B6BE-C0692807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22580-964B-4C54-A374-E3C848D2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71917-5966-497A-8A18-82EA57FC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21FDC-F81D-4E41-A6B4-69ECC1E0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1F14A-29DF-4473-A5E7-795C6C47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CF55B-2959-406A-AA1F-14B4FFB6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96834-1B89-4962-9F2A-0CBBB6C6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577BA-6304-4203-89BA-B63A295F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883B5-6828-4BEE-B642-73EF3AF8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FC58D-A51C-4455-BF94-06DC06B4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80307-8495-4E5F-A13F-FA05A478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3DDA9-4D8E-4312-B57E-2D759BB1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3DA2C-9962-476E-A2F4-6CF8B205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7B2B43-D1D9-4E9F-BA60-C12A4833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21118-4C4C-40A5-BC7A-E9F64EA8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9B52F3-CFE7-4EF0-A513-B5926747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807F5D-318B-4E32-B688-8F98EB24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54FFC5-B92D-4183-89EC-BB6EE886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DC17C3-B18D-4476-91AE-C14A1C36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2D6F35-5AC4-436E-A067-4B273D5B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BAE376-E9AD-4CEE-AC1B-465BD3B3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224A2D-A63F-4AC4-8003-FB6C067F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DF0FB-20DA-447F-AB97-FD0979A4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9D7FEE-F127-44D9-86D4-A8BA105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8024EF-7878-4C94-ADC7-CAA6E3FE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3FFBE7-1B84-4591-95F3-6056A45C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0212AD-21CE-45C1-8987-8466C101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335F12-EF62-4AF1-98EA-2946E393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E437F6-4818-4673-89E4-5FE773CA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4F5D56-8D74-4B58-A80B-89EA3332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184E9A-CC7E-4584-B13D-7E5F034B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74399E-3BB6-4654-AB27-DD68E621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71B2D7-CE21-4240-926B-276FDE66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BA2664-C02D-4944-8FBA-4E003C99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CF2BC0-F8BD-41F2-98C2-681D6205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47E1F6-2086-4465-BF11-D7F7098A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1B04FB-25D8-44AB-B8A1-F178D7C4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1FA9FC-BBF4-44FB-9CDD-2B41DF08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ECA749-1BDF-4CED-AFE9-B221B700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0A0578-062C-4393-9C39-671624FE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06C9F7-BAA9-49F0-8529-F0BC6DBA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D45746-1255-4341-B100-415C0018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C3F1C8-6105-428C-BECE-4AD119C0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7F24D1-D636-43B6-A74E-680C364C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60611F-2683-42EF-8176-713DB228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66B025-19D2-4FE8-8AD5-EC712FDF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33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12236E-AC2D-40FF-94D4-EAF598B7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117DC6-9153-484E-B8FC-BEFDF060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57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D7897A1-1DF0-44AD-86FC-2F859E5B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402756-E385-40C2-98FD-675E61F7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81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0F89849-16D8-42EC-AB02-BA9F0F90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51CE52-3583-4E33-9EA9-B4C46CEC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DBBE0C-197A-4768-8443-3D71C6A2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FBA7BD-4FCB-452C-B529-95877970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EE1BBF5-E162-4CE7-A3B3-5E4EB71A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CE109C3-602B-42C2-AC75-E3E4C943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A94F25B-85C1-45AF-B211-188C6E4F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F55DF75-1CDC-4B57-A258-D40E00A4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5A2DD26-FC59-4526-82A7-14292138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A06AAF5-2DCA-4CC3-9209-187F2C35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393571A-6C5C-46B8-BFFD-A2DE8FD1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4084F08-9A87-45AA-B7B2-BFA94127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2F4015C-99EA-4B34-A9B6-9335FC62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76E00A7-7DC2-4646-A887-193114FC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2CA4321-50C3-4FB5-BF32-0D4627A1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1901A74-4CF5-4A4A-89C3-4F7E41CA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3D9EBB0-8F80-4E75-8B5E-11AE87BB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12E1665-1CBC-4A67-8A92-5EC44A02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76924D5-B1C9-42FC-811D-41D093B0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C1B05EC-A102-4E88-BC17-D30698F5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30AB203-D8E6-4C1D-ADFE-65359D88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098A210-6C0A-4622-B271-A23FF64D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9906000" cy="3143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78D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D6E7411-CCF0-407D-862D-25F8F3FD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7200"/>
            <a:ext cx="9906000" cy="2667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8CFF4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4790D24-E83A-449B-BF94-6983C25D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66750"/>
            <a:ext cx="8763000" cy="2095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C2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C25DC34-0FAC-4545-AE19-08ADA6F9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0DAA35B-55CB-4DBE-986E-F6B121E9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0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15E9EFF-860D-471C-B109-803D00DE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19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7986149-233D-4C09-9932-D2341DA5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0131EB0-C19C-4A17-9C0E-DC846A04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BBB5"/>
                </a:solidFill>
              </a:defRPr>
            </a:pPr>
            <a:r>
              <a:rPr sz="1200">
                <a:solidFill>
                  <a:srgbClr val="AEBBB5"/>
                </a:solidFill>
              </a:rPr>
              <a:t>06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B49264F-6284-43B5-AA40-4366A110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836957C-E353-448F-999D-028A60C9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CFF45"/>
                </a:solidFill>
              </a:defRPr>
            </a:pPr>
            <a:r>
              <a:rPr sz="1050" b="1">
                <a:solidFill>
                  <a:srgbClr val="8CFF45"/>
                </a:solidFill>
              </a:rPr>
              <a:t>ЛИЧНЫЙ БОНУС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C156188-3AAB-4FC6-A503-11BBE886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5FBF7"/>
                </a:solidFill>
              </a:defRPr>
            </a:pPr>
            <a:r>
              <a:rPr sz="2850" b="1">
                <a:solidFill>
                  <a:srgbClr val="F5FBF7"/>
                </a:solidFill>
              </a:rPr>
              <a:t>ЛИЧНЫЙ БОНУС ОСТАЁТСЯ САМОЙ ПОНЯТНОЙ ВЫПЛАТОЙ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1A1B464-6EF0-4629-9465-67E5DFFD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62150"/>
            <a:ext cx="2076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16B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8C4FA46-4761-4BFB-82F7-FF2EBD3C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90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9525">
            <a:solidFill>
              <a:srgbClr val="16B8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F887C69-3F72-4CD5-B1E3-05685265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CODE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24AB3EC-6588-4384-9A20-AE419980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8602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BF7"/>
                </a:solidFill>
              </a:defRPr>
            </a:pPr>
            <a:r>
              <a:rPr sz="2325" b="1">
                <a:solidFill>
                  <a:srgbClr val="F5FBF7"/>
                </a:solidFill>
              </a:rPr>
              <a:t>$10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51869D0-0AE6-4D6D-A169-49058DF2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146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личному наставнику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173140C-F9A7-4163-94B4-3B16E22C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62150"/>
            <a:ext cx="2076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8CF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EE33BDD-C3E2-41C3-8BA5-3C7FF2B5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90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9525">
            <a:solidFill>
              <a:srgbClr val="8CFF4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D26D7FA-077E-4DF6-8A04-101D6B22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907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PRO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5998238-F701-46E4-B7A8-3BA46817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8602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BF7"/>
                </a:solidFill>
              </a:defRPr>
            </a:pPr>
            <a:r>
              <a:rPr sz="2325" b="1">
                <a:solidFill>
                  <a:srgbClr val="F5FBF7"/>
                </a:solidFill>
              </a:rPr>
              <a:t>$90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E6CB751-5B27-45F4-BAFA-F5C27AC1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146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личному наставнику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48E302B-AFCD-4B9A-98EA-46552800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62150"/>
            <a:ext cx="2076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16B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59B1F60-07A6-454E-AD11-61B34553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9525">
            <a:solidFill>
              <a:srgbClr val="16B8F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1A07CBD-11E5-402F-9710-304722C9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907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VIP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8684FE8-338B-45CD-BEA1-460F2CCA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8602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BF7"/>
                </a:solidFill>
              </a:defRPr>
            </a:pPr>
            <a:r>
              <a:rPr sz="2325" b="1">
                <a:solidFill>
                  <a:srgbClr val="F5FBF7"/>
                </a:solidFill>
              </a:rPr>
              <a:t>$270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FD238DD-F820-491D-BE26-9F0BE199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146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личному наставнику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4639269-5BF3-4BD0-96EE-AB83421A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62150"/>
            <a:ext cx="2076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16B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C231F88-4C64-44A2-B598-21B7FE92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90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9525">
            <a:solidFill>
              <a:srgbClr val="16B8F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31F21FC-7BE2-4067-8808-6AFE79E3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907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Подписка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5704DCF-7699-46CF-8140-384ED879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8602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BF7"/>
                </a:solidFill>
              </a:defRPr>
            </a:pPr>
            <a:r>
              <a:rPr sz="2325" b="1">
                <a:solidFill>
                  <a:srgbClr val="F5FBF7"/>
                </a:solidFill>
              </a:rPr>
              <a:t>$10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4A2D65C-B7F5-460B-B2C4-515539AE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146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личному наставнику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19962E6-23EA-429E-80CF-8C73C17A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90950"/>
            <a:ext cx="7429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8CF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7AE9C84-40FB-4BFF-8F75-0B477069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57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CFF45"/>
                </a:solidFill>
              </a:defRPr>
            </a:pPr>
            <a:r>
              <a:rPr sz="1800" b="1">
                <a:solidFill>
                  <a:srgbClr val="8CFF45"/>
                </a:solidFill>
              </a:rPr>
              <a:t>Пример по PRO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AE39FE5-4CC3-4467-B9FA-4EAA3FC1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386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BF7"/>
                </a:solidFill>
              </a:defRPr>
            </a:pPr>
            <a:r>
              <a:rPr sz="2175" b="1">
                <a:solidFill>
                  <a:srgbClr val="F5FBF7"/>
                </a:solidFill>
              </a:rPr>
              <a:t>5 личных продаж × $90 = $450 личного бонуса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290CF93-8903-4F01-B693-4861B677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876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EBBB5"/>
                </a:solidFill>
              </a:defRPr>
            </a:pPr>
            <a:r>
              <a:rPr sz="1350">
                <a:solidFill>
                  <a:srgbClr val="AEBBB5"/>
                </a:solidFill>
              </a:rPr>
              <a:t>Если это первые 30 дней, дополнительно может включиться быстрый старт.</a:t>
            </a:r>
          </a:p>
        </p:txBody>
      </p:sp>
    </p:spTree>
    <p:extLst>
      <p:ext uri="{BB962C8B-B14F-4D97-AF65-F5344CB8AC3E}">
        <p14:creationId xmlns:p14="http://schemas.microsoft.com/office/powerpoint/2010/main" val="4086983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2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26B517-38E3-4B91-8618-F8962D6C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A6B4C-2132-4580-86D9-B9DE7C9B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5CAEA-7F67-4DFB-A67C-4FB93136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FE12D-17D0-46B7-B6FA-0E1FE3C8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84B1E-E1C0-453A-A279-72338263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584EF-1350-475B-AC60-2442F2A4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67549-CBC3-497E-A4CF-2C213B9B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ED304-998E-4EE4-8CBE-F41ABC3F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62BCA-D0FF-4384-ACD1-89C7E141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61C46-2DDD-482D-9F70-32AACC1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59F6E-5476-4C1F-AACD-891EEFE3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37201-ACD6-4A83-9035-C43E6FEE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887FCC-A994-4508-A1D8-42BE1C61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688500-998E-43F5-AB31-0106A2AE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5CAC9-4692-4EBC-AA5E-C683D83D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6A0C0-D228-4C35-A9D1-1213D01D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8244B9-C6EB-48CA-8C92-C7BB4442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5309F-2F27-4802-B63B-47F132DE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A561E3-4796-40FA-A3A4-9DFA571F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43742E-0CFF-4F2E-879E-BA5F3617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B6456E-87C2-48EB-94F2-AE24DB57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21E80C-8B35-4E25-8483-FA62400A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CFBDC1-F7F1-4FDC-AD0C-917B2073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441FD5-8C21-4B53-962D-86E63310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DB5764-6303-4780-866A-404A161C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2DF32F-CC6A-468F-8825-91748F61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2B56FA-B6E6-4506-827C-0B4BD5E8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BF6ED0-7E53-44EB-A383-7E708B0C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3C1814-2E16-4611-9E48-C6F24F2F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AC8952-1109-4804-BA94-CC2CEDD6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40E56F-018E-44FF-BEC3-B9CE9282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DF6DFB-4873-45BA-B452-3071EA0F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0B4917-FD60-421A-AC1A-7D7F1CA7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60104B-D609-4AFF-A423-747C5876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3A4FAD-E82B-42D8-9E30-1490D713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18DAEB-9B57-4C03-B9BF-F061589D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A057F0-4F5E-4D11-B947-B130E8DA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DD093D-5F83-43DC-92C2-6EF10A46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2105F9-29CA-4381-A931-01C0D490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44F59C-6EFA-4044-B68A-0E1D5DDC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DA4EC5-1321-4CF4-AF7D-3B7ACDF1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6C375A-24F7-4C8B-9807-3AF7CE7C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434E95-3545-4C5F-8CBE-DFA361DB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432130-975A-468D-91D9-D44F20E4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F7E738-FDC2-4CF9-9F97-C5D8A240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A9A689-EBBE-4D97-A17B-17D22F77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33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A303FB-C799-4B74-A326-1AC362F5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B6CB8B-4D82-4306-85A2-1020DE2C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57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AB9986-5CCC-44EC-B738-C6922995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8168BA7-42AC-4E4D-9370-19C42614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81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0F4A21-C387-440D-88EF-8E1BED41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273421-CC4A-4C4A-9251-161B5F7C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935101-AEE5-4506-9D22-076CFA25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723533-DD98-48F9-B646-DE39B616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6D2E6B-5F07-4E0D-85E6-3E5B614B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100BE8B-30DA-4E88-8821-10532B8C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C426E5D-7462-465F-BE8B-2ACA45A3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C84F3A6-5972-4D1E-B9F3-15ACED35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118E87A-7CAA-4505-8AC0-F430EB40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7DD34CB-6403-4636-9A69-44DBEF95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CABF8F9-3571-4E0A-8ED3-31645007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5D353B0-C257-4037-9C7E-CF5B734B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89472B3-D5F1-4678-8715-E19F78F8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F711A43-5624-46FE-9A15-3CDC0967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4CBE52B-123A-4D88-89D1-591222BA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0971A93-0F8D-47F8-B6C6-85FD14B5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637CD67-C98F-4DDC-B402-1E7CA24C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E2FBEBF-F611-4BB7-8A1F-0C0F1932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3B1B56A-0975-4D2E-BD4F-2C6764C4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2583EC0-3853-4EBE-94A4-CC135BC1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EC6F2CC-9B4E-41C9-90B3-F099A720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2862308-B9BB-470A-BAF9-3A31288E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9906000" cy="3143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78D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69C082E-833E-4F7E-BA65-275CE8F2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7200"/>
            <a:ext cx="9906000" cy="2667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8CFF4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41D0654-25BD-46B6-BBAC-1365B85B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66750"/>
            <a:ext cx="8763000" cy="2095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C2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6CE7933-5119-4194-9206-3304C298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0A935B3-2649-443A-83F1-FA45A854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0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756DF12-9229-47CC-B60E-4DF187A0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19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3C17B36-9D35-4D3C-86B3-847254C4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1D092EB-EC47-4214-935E-8F864613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BBB5"/>
                </a:solidFill>
              </a:defRPr>
            </a:pPr>
            <a:r>
              <a:rPr sz="1200">
                <a:solidFill>
                  <a:srgbClr val="AEBBB5"/>
                </a:solidFill>
              </a:rPr>
              <a:t>07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66B7684-6168-4218-A41A-F61A93F5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0D9D2A5-00D3-47C1-B236-38FD48AD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CFF45"/>
                </a:solidFill>
              </a:defRPr>
            </a:pPr>
            <a:r>
              <a:rPr sz="1050" b="1">
                <a:solidFill>
                  <a:srgbClr val="8CFF45"/>
                </a:solidFill>
              </a:rPr>
              <a:t>БИНАРНОЕ РАЗМЕЩЕНИЕ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73AFBBD-3363-4280-ADE1-ECA9B049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5FBF7"/>
                </a:solidFill>
              </a:defRPr>
            </a:pPr>
            <a:r>
              <a:rPr sz="2850" b="1">
                <a:solidFill>
                  <a:srgbClr val="F5FBF7"/>
                </a:solidFill>
              </a:rPr>
              <a:t>БИНАР СОХРАНЯЕТ ПРОСТУЮ СТРУКТУРУ: ДВЕ ПРЯМЫЕ ПОЗИЦИИ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1A5D4B0-F515-4841-A4F8-FC3E48F6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00350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591ADA9-6F66-47E7-99A3-33C63A13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00350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BD3BCBE-9DCA-4444-92E1-D7FF1728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053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16AE080-0AF7-4D28-BC91-DDD85367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A964E8B-C0F2-4285-83F5-FC32710D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09750"/>
            <a:ext cx="1143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018"/>
          </a:solidFill>
          <a:ln xmlns:a="http://schemas.openxmlformats.org/drawingml/2006/main" w="11906">
            <a:solidFill>
              <a:srgbClr val="8CF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4B4C3A6-4A2D-427F-8C06-BEC53E6D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FBF7"/>
                </a:solidFill>
              </a:defRPr>
            </a:pPr>
            <a:r>
              <a:rPr sz="1725" b="1">
                <a:solidFill>
                  <a:srgbClr val="F5FBF7"/>
                </a:solidFill>
              </a:rPr>
              <a:t>Вы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2B9DC6E-F4E8-4733-942E-9C4BD916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14700"/>
            <a:ext cx="1143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018"/>
          </a:solidFill>
          <a:ln xmlns:a="http://schemas.openxmlformats.org/drawingml/2006/main" w="11906">
            <a:solidFill>
              <a:srgbClr val="16B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12AA303-C75E-43D2-9978-ECF58F00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05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BF7"/>
                </a:solidFill>
              </a:defRPr>
            </a:pPr>
            <a:r>
              <a:rPr sz="1275" b="0">
                <a:solidFill>
                  <a:srgbClr val="F5FBF7"/>
                </a:solidFill>
              </a:rPr>
              <a:t>2-й личник</a:t>
            </a:r>
          </a:p>
          <a:p xmlns:a="http://schemas.openxmlformats.org/drawingml/2006/main">
            <a:pPr algn="ctr">
              <a:defRPr sz="1275" b="0">
                <a:solidFill>
                  <a:srgbClr val="F5FBF7"/>
                </a:solidFill>
              </a:defRPr>
            </a:pPr>
            <a:r>
              <a:rPr sz="1275" b="0">
                <a:solidFill>
                  <a:srgbClr val="F5FBF7"/>
                </a:solidFill>
              </a:rPr>
              <a:t>левая нога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688969C-7386-4B08-8D10-0EDBF463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14700"/>
            <a:ext cx="1143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018"/>
          </a:solidFill>
          <a:ln xmlns:a="http://schemas.openxmlformats.org/drawingml/2006/main" w="11906">
            <a:solidFill>
              <a:srgbClr val="FFD1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6C3734F-D01C-46DA-95A3-F46FE8FB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BF7"/>
                </a:solidFill>
              </a:defRPr>
            </a:pPr>
            <a:r>
              <a:rPr sz="1275" b="0">
                <a:solidFill>
                  <a:srgbClr val="F5FBF7"/>
                </a:solidFill>
              </a:rPr>
              <a:t>1-й личник</a:t>
            </a:r>
          </a:p>
          <a:p xmlns:a="http://schemas.openxmlformats.org/drawingml/2006/main">
            <a:pPr algn="ctr">
              <a:defRPr sz="1275" b="0">
                <a:solidFill>
                  <a:srgbClr val="F5FBF7"/>
                </a:solidFill>
              </a:defRPr>
            </a:pPr>
            <a:r>
              <a:rPr sz="1275" b="0">
                <a:solidFill>
                  <a:srgbClr val="F5FBF7"/>
                </a:solidFill>
              </a:rPr>
              <a:t>правая нога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3C08724-FE8A-46AA-89A7-7DF7F461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57750"/>
            <a:ext cx="1143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0A1A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28C247C-7D8C-42D0-BB67-56F89CE0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482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BF7"/>
                </a:solidFill>
              </a:defRPr>
            </a:pPr>
            <a:r>
              <a:rPr sz="1275" b="0">
                <a:solidFill>
                  <a:srgbClr val="F5FBF7"/>
                </a:solidFill>
              </a:rPr>
              <a:t>4-й личник</a:t>
            </a:r>
          </a:p>
          <a:p xmlns:a="http://schemas.openxmlformats.org/drawingml/2006/main">
            <a:pPr algn="ctr">
              <a:defRPr sz="1275" b="0">
                <a:solidFill>
                  <a:srgbClr val="F5FBF7"/>
                </a:solidFill>
              </a:defRPr>
            </a:pPr>
            <a:r>
              <a:rPr sz="1275" b="0">
                <a:solidFill>
                  <a:srgbClr val="F5FBF7"/>
                </a:solidFill>
              </a:rPr>
              <a:t>под 2-м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2150FDD-E3A8-4C2F-BC07-33EFF8D4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1143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0A1A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9034CA9-72D3-4E6C-84C6-7DD7B8A9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482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BF7"/>
                </a:solidFill>
              </a:defRPr>
            </a:pPr>
            <a:r>
              <a:rPr sz="1275" b="0">
                <a:solidFill>
                  <a:srgbClr val="F5FBF7"/>
                </a:solidFill>
              </a:rPr>
              <a:t>3-й личник</a:t>
            </a:r>
          </a:p>
          <a:p xmlns:a="http://schemas.openxmlformats.org/drawingml/2006/main">
            <a:pPr algn="ctr">
              <a:defRPr sz="1275" b="0">
                <a:solidFill>
                  <a:srgbClr val="F5FBF7"/>
                </a:solidFill>
              </a:defRPr>
            </a:pPr>
            <a:r>
              <a:rPr sz="1275" b="0">
                <a:solidFill>
                  <a:srgbClr val="F5FBF7"/>
                </a:solidFill>
              </a:rPr>
              <a:t>под 1-м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37D4414-FEDA-4FF2-AF70-6B02F554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9245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EBBB5"/>
                </a:solidFill>
              </a:defRPr>
            </a:pPr>
            <a:r>
              <a:rPr sz="1350">
                <a:solidFill>
                  <a:srgbClr val="AEBBB5"/>
                </a:solidFill>
              </a:rPr>
              <a:t>Личный бонус получает личный наставник. PV идут вверх по месту, куда партнёр поставлен в бинарной структуре.</a:t>
            </a:r>
          </a:p>
        </p:txBody>
      </p:sp>
    </p:spTree>
    <p:extLst>
      <p:ext uri="{BB962C8B-B14F-4D97-AF65-F5344CB8AC3E}">
        <p14:creationId xmlns:p14="http://schemas.microsoft.com/office/powerpoint/2010/main" val="13179046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2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1BE13D-79AC-4DC6-A0F8-FDCEF239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56F66-5048-482D-8380-C45D132E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05968-EFB0-4D28-B62F-253F04D2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35742-3D45-442B-99B6-23A81FDF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31C5C-B413-43C3-9411-F8968FAD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FF984-53D0-4C2B-8319-00372F4D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7DA6C-1BA9-442E-A1AD-CBA002B2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4264F-4E92-4191-8B68-962B5F33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E2D78-6158-4FD8-BBDF-776FAD25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FAA4E-3A18-4297-806E-711771FD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E28EC-3973-430C-B455-7E061372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DBE89-EA1A-410A-AB41-4D53A82E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12D2A-CB1F-4852-BCF3-2CA19DE6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23D8B-2C99-487C-AA26-07F10706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AB49D3-B574-4BE4-8AD8-9C03598F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5894ED-7299-4912-886D-776C256D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E36F5-8061-4E84-88F4-37EC97B9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ED1266-0E5B-474E-BB3A-E9956B55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BEE8BE-DC1F-419E-A357-CF454C37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73FBC2-49B2-4BEC-8BA5-6AA6CE48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331841-AF46-4774-B787-AFB50FEF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6FE96E-82C9-4D4E-88DE-A2094745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048C58-A0A8-417D-AE93-D14BF045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234D8-F6F6-4994-9312-41C66AE0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36841F-EB18-452C-BF82-9B6088CD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713F10-09CC-4273-AC07-3DA04DD1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AB21C6-CE92-4AC3-B96E-757D2955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C216E6-74D1-4E2E-89BC-4B1F2B55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C28E1D-ED71-402F-894F-D9B58185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DCF0D8-95C8-476F-8C01-BCE9E23D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A4E5EC-9A77-45AE-8D0A-50BAACF2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87C7DD-D53D-430D-A8F5-DAC1F6E9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A7BB36-990E-46A6-B4A8-851E478C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9AACAF-8969-42C6-86EA-8EEECE0D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F598AF-FA17-4B31-B054-97546699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9BA44B-E646-4B7C-93CB-0C7DC3C6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D22B7F-B756-40CC-823A-C004320C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2384A6-4562-4232-B98D-0BA3435E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7D914B-6303-4B2E-976E-F5F062D3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D374C0-52BD-42F0-A44A-732ECFDC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0F0341-7F14-4DA7-B397-97815A09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3ACEBA-445D-434D-874B-02048CF8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4A9D8B-6BF3-488F-9E51-6A2F23D1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7E1D01-244C-46F5-A116-76EB5B39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CE0944-8ED8-4FB8-8EB5-E53B03AD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5CB333-D52E-48B3-9412-D25A2302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33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0FD2AC-579E-4D21-9CD7-60677DCF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16EBBF-20B2-42B5-A6DA-52682641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57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AC653F2-5B45-4778-96D1-1E590328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8B71645-1179-46E0-9F8A-FA2500AD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81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5101E7-A0FE-4284-B0CF-D8EF2207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936C02-FE19-4185-9BB0-0B7FF22A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696CB5-2EB8-47EE-B20D-18CFEA81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7A028C8-85CD-4F05-8E63-530C68D1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3EEE05B-FF94-4CB6-A348-8F938C3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B011B84-DC8A-4747-B9AF-9954728C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4A716FE-DCCF-4058-9D80-F7B5B0EF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33C5D2-85BA-4BA4-B381-D1FF4489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39EC112-65BF-49F3-82BE-359F0261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CB56B7A-0898-40FF-8491-6C953826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56E9A8B-9A2D-4E8A-B79E-F32517EB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E9838F2-EA9E-4D6C-A2A9-FDA31878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F3408E1-C027-411B-A338-88D5F7C6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0F43113-10E0-488A-AE5D-DCE97AC9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5AE155E-546A-4AF1-828A-E4C9D963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4E4F484-10EC-4EA5-B4E2-6AD445FD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787F17F-2FD6-4A0E-8EF3-7A8ECE9F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41CB2E3-BF65-4014-B52B-5276A20B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62E1870-EBBB-4B99-98A1-01A61829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3D78ACE-200A-469F-BC27-DA630B04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1F7EAB3-C386-4AC4-A582-9B86FF80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E0BBC99-112E-49E5-8805-6D798306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9906000" cy="3143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78D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338F9C1-592E-495C-B63F-1E77923B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7200"/>
            <a:ext cx="9906000" cy="2667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8CFF4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DDE95FC-348A-4C3F-A1BB-8AEDEBDC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66750"/>
            <a:ext cx="8763000" cy="2095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C2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333B74F-37EA-4279-A6C8-35B05367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D633F27-D51B-4E12-A8C9-F87C5D62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0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0064456-2F4E-46DD-9FD4-33568577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19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686E3AB-3EE0-4C34-9A10-ADC8E6E3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92B5F92-F69A-408B-9025-B46F68A4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BBB5"/>
                </a:solidFill>
              </a:defRPr>
            </a:pPr>
            <a:r>
              <a:rPr sz="1200">
                <a:solidFill>
                  <a:srgbClr val="AEBBB5"/>
                </a:solidFill>
              </a:rPr>
              <a:t>08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F6D6C70-C0FB-42ED-AE48-84868CAA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DE925A3-152A-4C33-B974-F0961561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CFF45"/>
                </a:solidFill>
              </a:defRPr>
            </a:pPr>
            <a:r>
              <a:rPr sz="1050" b="1">
                <a:solidFill>
                  <a:srgbClr val="8CFF45"/>
                </a:solidFill>
              </a:rPr>
              <a:t>КОМАНДНЫЙ БОНУС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4DF6A43-6FDF-4644-8D43-E272B021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5FBF7"/>
                </a:solidFill>
              </a:defRPr>
            </a:pPr>
            <a:r>
              <a:rPr sz="3600" b="1">
                <a:solidFill>
                  <a:srgbClr val="F5FBF7"/>
                </a:solidFill>
              </a:rPr>
              <a:t>КОМАНДНЫЙ БОНУС СЧИТАЕТСЯ ПО СЛАБОЙ НОГЕ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F7C0F1E-969A-485E-9B69-662A75F4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0025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16B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B2908F8-2C1F-4D86-98CB-3A54B6AC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28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9525">
            <a:solidFill>
              <a:srgbClr val="16B8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8DC239E-D438-4F05-9D3A-71EFE63A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288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Левая нога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39DD68E-E128-47A9-8375-856CF24E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241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BF7"/>
                </a:solidFill>
              </a:defRPr>
            </a:pPr>
            <a:r>
              <a:rPr sz="2325" b="1">
                <a:solidFill>
                  <a:srgbClr val="F5FBF7"/>
                </a:solidFill>
              </a:rPr>
              <a:t>120 PV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7213468-5F88-4190-BA4C-441D79C2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5275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накопленный объём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2B59B33-0787-47DF-B824-34DF77DB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2476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FFD1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CE4AD6E-4F13-413B-B6C6-787B3ACA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28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AE14D9A-F191-43C0-B038-070F65CD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288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Правая нога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27C13E9-F24C-4177-9059-A1CD7C7E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BF7"/>
                </a:solidFill>
              </a:defRPr>
            </a:pPr>
            <a:r>
              <a:rPr sz="2325" b="1">
                <a:solidFill>
                  <a:srgbClr val="F5FBF7"/>
                </a:solidFill>
              </a:rPr>
              <a:t>80 PV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B4CF8CF-824E-4E71-BD3D-6900F9CD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5275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накопленный объём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273B640-E842-458B-B279-D7F1FC02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28875"/>
            <a:ext cx="2476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83123"/>
          </a:solidFill>
          <a:ln xmlns:a="http://schemas.openxmlformats.org/drawingml/2006/main" w="11906">
            <a:solidFill>
              <a:srgbClr val="8CF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59D6C0B-CE6E-4235-A0B9-E0DBF99C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241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D7E0DC"/>
                </a:solidFill>
              </a:defRPr>
            </a:pPr>
            <a:r>
              <a:rPr sz="1500">
                <a:solidFill>
                  <a:srgbClr val="D7E0DC"/>
                </a:solidFill>
              </a:rPr>
              <a:t>Схлопнутый объём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CF353FF-8DB8-41CF-B81F-5E2AC4D3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86100"/>
            <a:ext cx="1638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8CFF45"/>
                </a:solidFill>
              </a:defRPr>
            </a:pPr>
            <a:r>
              <a:rPr sz="3450" b="1">
                <a:solidFill>
                  <a:srgbClr val="8CFF45"/>
                </a:solidFill>
              </a:rPr>
              <a:t>80 PV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BAB5FE0-49FD-4D92-A223-0285B764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195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AEBBB5"/>
                </a:solidFill>
              </a:defRPr>
            </a:pPr>
            <a:r>
              <a:rPr sz="1800">
                <a:solidFill>
                  <a:srgbClr val="AEBBB5"/>
                </a:solidFill>
              </a:rPr>
              <a:t>× $1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ACC1C2C-2EA7-42EC-B008-5DCB6955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19650"/>
            <a:ext cx="6096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2C7D6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B084B7B-2FB5-4835-B962-4790EB36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0387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BF7"/>
                </a:solidFill>
              </a:defRPr>
            </a:pPr>
            <a:r>
              <a:rPr sz="2025" b="1">
                <a:solidFill>
                  <a:srgbClr val="F5FBF7"/>
                </a:solidFill>
              </a:rPr>
              <a:t>Ваш бонус: $80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8BC6781-6A50-431F-8FE3-BFAC8626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958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Остаток после схлопывания: левая 40 PV, правая 0 PV</a:t>
            </a:r>
          </a:p>
        </p:txBody>
      </p:sp>
    </p:spTree>
    <p:extLst>
      <p:ext uri="{BB962C8B-B14F-4D97-AF65-F5344CB8AC3E}">
        <p14:creationId xmlns:p14="http://schemas.microsoft.com/office/powerpoint/2010/main" val="8289087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2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E0EAD3-84DC-4A74-BF0B-130549E6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2BCF9-C4A3-4A99-B76D-32BED0B8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DC79D-3C04-4999-AF27-3A47A84A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B9FE5-2541-45EC-AA48-7A78461A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FCD54-D136-418E-8AA9-BAD837A9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944F7-0110-4775-92C5-8AAC1FCC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704A7-C95B-4F5D-A5C7-172E3007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A68E8-3827-4933-A2E1-17ECF99F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9C626-52E4-4769-8998-AB66D4D8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16FDD-DEDE-4064-A078-C5DF52C8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7AC42-A460-449E-88E6-A254797D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1D9AE-7476-4311-8D6A-0F3664FB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9A36C-CBBC-4700-AAD6-EE68DC9D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3A547-5D4C-4B8E-813A-E4B4F0E6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6628A-5B2B-467A-824F-41EF29FD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E85378-959F-4F64-8637-4F23BBCF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BB023-479D-4C98-805E-178046EF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999606-911D-4CD5-A8B2-9C52F08D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327BE3-A32F-459D-8250-93F52D5F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0FF227-6E67-421A-BC5A-6039939E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A0727D-CE37-40F6-86C2-69F0BE07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80E776-845F-41B9-8B7A-8A88E4F5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19E01D-7E59-40FF-BA4B-9B124773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5BC6B3-7C17-4F1F-82CF-6C89BB6F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90410E-A888-4F03-93A7-DA83CD98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510376-AAF4-4A8D-B8E8-53AB928A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501F11-0416-4D42-AF22-A665C825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4E8ED8-5D0E-426D-8506-F6B41E5E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D8951D-2899-4408-B9C4-602415A7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9B2AF8-88AC-491F-B0B4-0D95DE7F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C5A2A2-428A-4294-B1C6-C4577904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169046-1F76-40CF-A524-4F8C5803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E6E828-770F-4FB1-93A1-1962A807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F594F3-D659-48EE-AC76-6CFE9C92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DF73D3-E5BC-4D49-8815-F623A95E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AF1E3C-C318-4E28-96AC-A49D9B8F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9CB5F7-D3D7-47CD-8A46-C0D2FF10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10E7CE-8608-4AC4-B72D-F871DE9B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D62B27-82EA-415E-8EB0-DCC1504E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F0FE69-FF9C-4699-92A1-2AB9DE2D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231A84-51AC-4092-82B1-880DF812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FC45B2-4D60-495A-A7CA-711C7E32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D91C1D-93B5-474C-AA0B-46A3C4DE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DA7954-E5F8-4B7D-AC3C-612BE1A1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E387DD-2C0D-41EB-BF0F-C8EDC2D7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F0E21C-4641-4A4B-A93C-F9D2CB07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33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1B4C315-CCE7-4FCE-A730-B051E5C1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7F90C4-8D9A-4FF0-AF6D-EFB1C607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57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8A1956-492B-4BCE-B6DE-6C29C297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151141-CF1A-4561-AC86-34465D75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81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B5054A-77A9-4119-9C7B-3E0E1453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704687C-7CE7-4D75-8050-B4D7647B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EA9603A-0AFA-4208-9266-C7401225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4780915-FCA8-4495-A1CE-386F74AD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1AB4CA5-E840-4C8E-93A6-184E893A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1C77899-8497-45FA-898E-D8E2CD0B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BDCCEF-37B7-48DA-ACBF-E249C799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91AE18F-9ABC-4264-9E93-40C6CB0E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D3F07BA-3013-4AAC-A593-30FB3E68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4C68970-C3A8-4DE9-A970-2E65262A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7DE0B2B-D141-4D9A-9BA6-7918A252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DD6AEE5-309A-4E73-B384-2CBA7A2F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5C09498-23BC-4C2A-A96E-B5ECB7FA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B2E7DD4-DEE3-4784-A35D-E3A08A24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690CC46-C15A-482B-9D3F-58E1C996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B91CF4D-FE8A-491E-88EE-9D58987B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4D50B31-B1D1-4AEA-AD38-A5159B04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E16D4DA-CDEE-4D16-B915-15074344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C460FA8-6E90-4263-AE28-13133D41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1185B8A-B9E0-4B58-ADA5-5AA5AFED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FF7F36C-608A-438B-8739-1B8186A9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453C94E-FC87-41C7-947E-33B57BA0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9906000" cy="3143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78D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6B3C37B-B39E-430D-893F-1FB79EB6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7200"/>
            <a:ext cx="9906000" cy="2667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8CFF4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E4CF67A-8CC2-418B-92B3-7121F955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66750"/>
            <a:ext cx="8763000" cy="2095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C2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640A2C3-4834-4FC0-8AA3-51131097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26AC372-EA67-4A55-A18A-BF0A94B7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0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4253153-0698-4D16-A4E0-EEDB09BD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19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A3FE1BD-D40F-4399-992B-EE44F0E7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22C3422-39D9-4E5D-AF74-3FCB5606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BBB5"/>
                </a:solidFill>
              </a:defRPr>
            </a:pPr>
            <a:r>
              <a:rPr sz="1200">
                <a:solidFill>
                  <a:srgbClr val="AEBBB5"/>
                </a:solidFill>
              </a:rPr>
              <a:t>09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5AB932A-EC78-401B-AEBF-4FD4D33A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0050287-3CD2-4518-A633-87025A7E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CFF45"/>
                </a:solidFill>
              </a:defRPr>
            </a:pPr>
            <a:r>
              <a:rPr sz="1050" b="1">
                <a:solidFill>
                  <a:srgbClr val="8CFF45"/>
                </a:solidFill>
              </a:rPr>
              <a:t>БОНУС РАЗВИТИЯ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5C5CFF7-CFBD-453A-B570-2D444C6B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5FBF7"/>
                </a:solidFill>
              </a:defRPr>
            </a:pPr>
            <a:r>
              <a:rPr sz="2850" b="1">
                <a:solidFill>
                  <a:srgbClr val="F5FBF7"/>
                </a:solidFill>
              </a:rPr>
              <a:t>БОНУС РАЗВИТИЯ ДОБАВЛЯЕТ ДОХОД ОТ КОМАНДНЫХ БОНУСОВ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ECB9408-2554-4309-A713-8E10D986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52650"/>
            <a:ext cx="152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8CF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3231E47-C969-43DF-9FCB-63FDEE35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03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BF7"/>
                </a:solidFill>
              </a:defRPr>
            </a:pPr>
            <a:r>
              <a:rPr sz="1350" b="1">
                <a:solidFill>
                  <a:srgbClr val="F5FBF7"/>
                </a:solidFill>
              </a:rPr>
              <a:t>1 линия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756F9E2-5B3C-4D89-A238-1DF6DFB3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8130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CFF45"/>
                </a:solidFill>
              </a:defRPr>
            </a:pPr>
            <a:r>
              <a:rPr sz="2550" b="1">
                <a:solidFill>
                  <a:srgbClr val="8CFF45"/>
                </a:solidFill>
              </a:rPr>
              <a:t>5%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36AA7A0-BE44-489C-AEA7-EFEF1D34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152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2C7D6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198ACF7-FBC2-4EBB-95DF-CEB2AABD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BF7"/>
                </a:solidFill>
              </a:defRPr>
            </a:pPr>
            <a:r>
              <a:rPr sz="1350" b="1">
                <a:solidFill>
                  <a:srgbClr val="F5FBF7"/>
                </a:solidFill>
              </a:rPr>
              <a:t>2 линия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C33D4B5-0A43-444C-BD46-E16E917E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8130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CFF45"/>
                </a:solidFill>
              </a:defRPr>
            </a:pPr>
            <a:r>
              <a:rPr sz="2550" b="1">
                <a:solidFill>
                  <a:srgbClr val="8CFF45"/>
                </a:solidFill>
              </a:rPr>
              <a:t>5%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257A2BE-90DD-4A7B-BD4B-3A610F41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52650"/>
            <a:ext cx="152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2C7D6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C352878-C107-4221-A506-5D4103F0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003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BF7"/>
                </a:solidFill>
              </a:defRPr>
            </a:pPr>
            <a:r>
              <a:rPr sz="1350" b="1">
                <a:solidFill>
                  <a:srgbClr val="F5FBF7"/>
                </a:solidFill>
              </a:rPr>
              <a:t>3 линия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7934D70-E9D9-4ABA-BCAD-CAF5884E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8130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CFF45"/>
                </a:solidFill>
              </a:defRPr>
            </a:pPr>
            <a:r>
              <a:rPr sz="2550" b="1">
                <a:solidFill>
                  <a:srgbClr val="8CFF45"/>
                </a:solidFill>
              </a:rPr>
              <a:t>5%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54AD497-C88F-4703-83F5-EEDA7A99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52650"/>
            <a:ext cx="152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2C7D6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8A5B12C-9EA5-4840-AD7F-39347AD4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03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BF7"/>
                </a:solidFill>
              </a:defRPr>
            </a:pPr>
            <a:r>
              <a:rPr sz="1350" b="1">
                <a:solidFill>
                  <a:srgbClr val="F5FBF7"/>
                </a:solidFill>
              </a:rPr>
              <a:t>4 линия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3C89F89-EE34-45E3-A834-015E1839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8130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CFF45"/>
                </a:solidFill>
              </a:defRPr>
            </a:pPr>
            <a:r>
              <a:rPr sz="2550" b="1">
                <a:solidFill>
                  <a:srgbClr val="8CFF45"/>
                </a:solidFill>
              </a:rPr>
              <a:t>5%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20EFF0E-1156-4511-B600-75C2CD06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52650"/>
            <a:ext cx="152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2C7D6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6522A5B-2564-47D7-8529-8A478FC6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003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BF7"/>
                </a:solidFill>
              </a:defRPr>
            </a:pPr>
            <a:r>
              <a:rPr sz="1350" b="1">
                <a:solidFill>
                  <a:srgbClr val="F5FBF7"/>
                </a:solidFill>
              </a:rPr>
              <a:t>5 линия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62B0819-6E2D-4754-85D8-6530DF45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8130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CFF45"/>
                </a:solidFill>
              </a:defRPr>
            </a:pPr>
            <a:r>
              <a:rPr sz="2550" b="1">
                <a:solidFill>
                  <a:srgbClr val="8CFF45"/>
                </a:solidFill>
              </a:rPr>
              <a:t>5%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58A9B97-1115-407A-9DF2-42F60553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723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1511"/>
          </a:solidFill>
          <a:ln xmlns:a="http://schemas.openxmlformats.org/drawingml/2006/main" w="11906">
            <a:solidFill>
              <a:srgbClr val="8CF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C899907-2B9E-4060-A29E-D80DD925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67200"/>
            <a:ext cx="636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BF7"/>
                </a:solidFill>
              </a:defRPr>
            </a:pPr>
            <a:r>
              <a:rPr sz="1800" b="1">
                <a:solidFill>
                  <a:srgbClr val="F5FBF7"/>
                </a:solidFill>
              </a:rPr>
              <a:t>Бонус считается только от командного бонуса партнёра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C6FE197-72A2-4108-981A-50843C50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48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AEBBB5"/>
                </a:solidFill>
              </a:defRPr>
            </a:pPr>
            <a:r>
              <a:rPr sz="1350">
                <a:solidFill>
                  <a:srgbClr val="AEBBB5"/>
                </a:solidFill>
              </a:rPr>
              <a:t>Пример: партнёр получил $100 командного бонуса - вы получаете $5.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95EAAAB-CCF2-4C04-9D4B-BCE9373B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48300"/>
            <a:ext cx="20955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30F10"/>
          </a:solidFill>
          <a:ln xmlns:a="http://schemas.openxmlformats.org/drawingml/2006/main" w="11906">
            <a:solidFill>
              <a:srgbClr val="FF6B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0640DB0-8D54-4230-8E61-7EC82A5E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581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846DDD7-7141-4AA9-B625-5B66519B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55307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7E0DC"/>
                </a:solidFill>
              </a:defRPr>
            </a:pPr>
            <a:r>
              <a:rPr sz="975" b="1">
                <a:solidFill>
                  <a:srgbClr val="D7E0DC"/>
                </a:solidFill>
              </a:rPr>
              <a:t>не от оборота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411763B-4DD7-4491-965F-AA2ADCCB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48300"/>
            <a:ext cx="20955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30F10"/>
          </a:solidFill>
          <a:ln xmlns:a="http://schemas.openxmlformats.org/drawingml/2006/main" w="11906">
            <a:solidFill>
              <a:srgbClr val="FF6B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9C7E8BB-924C-4908-8195-2F4B053C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581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441AE34-D6E1-4ECD-8C86-869E17CA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55307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7E0DC"/>
                </a:solidFill>
              </a:defRPr>
            </a:pPr>
            <a:r>
              <a:rPr sz="975" b="1">
                <a:solidFill>
                  <a:srgbClr val="D7E0DC"/>
                </a:solidFill>
              </a:rPr>
              <a:t>не от личного бонуса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181BCEC-E6E5-4EA3-9852-A76C001C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48300"/>
            <a:ext cx="20955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30F10"/>
          </a:solidFill>
          <a:ln xmlns:a="http://schemas.openxmlformats.org/drawingml/2006/main" w="11906">
            <a:solidFill>
              <a:srgbClr val="FF6B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60C2D98-BA87-4784-BD94-E1335E30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581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15C3C4D-D74F-4F74-BBF2-0E4AD6C3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55307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7E0DC"/>
                </a:solidFill>
              </a:defRPr>
            </a:pPr>
            <a:r>
              <a:rPr sz="975" b="1">
                <a:solidFill>
                  <a:srgbClr val="D7E0DC"/>
                </a:solidFill>
              </a:rPr>
              <a:t>не от PV напрямую</a:t>
            </a:r>
          </a:p>
        </p:txBody>
      </p:sp>
    </p:spTree>
    <p:extLst>
      <p:ext uri="{BB962C8B-B14F-4D97-AF65-F5344CB8AC3E}">
        <p14:creationId xmlns:p14="http://schemas.microsoft.com/office/powerpoint/2010/main" val="15610683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2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5824F3-2BD8-45D7-A26B-F88DA897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BDD16-483D-4AD2-A0F6-27399371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779AC-524E-483A-864C-FF4C6CE1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5723E-D9E2-4DE6-ADB0-80CA598E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599FC-0A92-4162-95B3-9434CC0D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5FF12-3EC5-45FE-8D16-2FBE0F14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5A444-473F-45D6-A62A-75492372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73482-F09A-4C7D-B00F-5D052BCF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83210-F13E-4ECA-8D2E-36D058EF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68ABC-FB5A-40DB-A27D-938358AD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23272C-A42C-4EAB-8AF9-E5C13F9D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AD3DD-7E86-41B2-9FD0-E2180F62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8A0BE-6A7C-4B74-A951-50942567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9967C-F9FF-4A63-8CEF-608EF35C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43852-35F6-4892-B0A2-14D4FA3A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E1299F-7686-4D28-A996-F6906C54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9880E3-B399-4404-B75A-E68A3CBE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DE2AF7-8504-4B39-A9FE-DA85DEF5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38EF7F-ECD2-4D3B-A116-DB18ED25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639F68-7D22-4299-9DC0-AB7317AE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8F586D-03BD-43D3-8E28-18D2C1BF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E51290-81A0-4BAD-8150-BDEA4F5F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7C3F98-49D4-40A0-A61E-137EFB4A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778EFF-A9CC-44EB-84E7-876A9C21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676FC9-67B6-4408-A54C-73C0CCB1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CC25CE-A9E0-4928-9D2E-8E2A6370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066D48-EB8F-4BDD-9825-59D180AD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A212C3-0213-4578-8E4A-82607363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51AA1E-C470-416B-807F-37B290B7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34CB04-D097-4924-8637-1BA9342F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131071-60E7-40E2-A069-913C4964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CD8F59-081C-4233-84E2-159AD093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FB8C27-0EF9-41C5-9A38-29D2B5E5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5395CE-07DE-4780-AFA1-2EBC3A4E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EA14BA-8FF6-44C9-AF79-5003B28A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89BF51-679C-4D3E-B03F-6C95E519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D1E660-6464-4984-BC53-1B1EE268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03B5C6-352E-46FD-8A52-DA5C866A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54778A-4C75-4ED8-BA06-33A00F4A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10DFE0-4388-4726-AA20-B78D2F58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75C5C7-8D66-41CC-89FF-7686B1A7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E0016D-5D27-4BBC-80EA-151928AF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BA4153-FB1E-4403-9739-D378A210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1C819D-CC88-4DFD-A035-FF0573AF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A0D965-5801-4677-8AB5-719E5380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5B656B-A4AE-47A5-9898-BE3920E5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33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D045FF-66CE-4627-9087-3B7F7992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317B9D-9B99-4182-A844-4CF952CB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57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98CF25-3896-4EED-A283-57EFBE11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9F6E83-7C0A-44E9-9EC1-75E53988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81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AE408C-DC12-4643-9BA1-93646F5E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1EAE5C-134A-412E-8B35-38FAE8C1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CC5AF77-FE5E-4B6D-8186-D48B9B67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864795E-7AE0-4B8B-B6AF-63070553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D8FE7E4-E9AA-44B6-BD0C-C03D21EC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EFDC2A9-B6C3-43D6-95F9-7C8341D9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19E195-20C2-4AAB-A77A-558AF308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13DAEC1-E1BF-42A6-97CB-BBB9ECA0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A32CC12-8B31-48EC-B1EF-55603B68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26D3FC2-1C07-4FA7-B0B0-A3AE0792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9F486C5-1481-431F-A7E4-0D8B75CB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065C932-F3BC-4E66-8090-3093CD4C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73A0121-D9AE-434C-B93F-C8865384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6E36BC-E9C7-4A68-9793-62868BD2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2FF7D17-BAC8-49AE-BCC7-DF9797AC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9341AA0-0723-4111-A2EC-5E2D7649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6D2AAC0-CFB1-4074-A7D3-66BD8CAB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F7BF21B-54A9-41ED-9114-43F40202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41E5404-568A-44D0-80DE-04D0BA82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464645D-E83D-40C3-B853-180E9C1E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EC3F998-DEB6-45BF-9C41-E7632456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DB9FEC8-CAD0-4206-AF06-BD5DBB5B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9906000" cy="3143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78D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663F2E0-FF51-412B-BE39-2F817CAB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7200"/>
            <a:ext cx="9906000" cy="2667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8CFF4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32E7BDC-9966-466B-8C1D-3ED9AE7B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66750"/>
            <a:ext cx="8763000" cy="2095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C2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486BF04-88DB-4770-8AA2-2BCDD03C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0B3B649-A384-4590-9119-8304731C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0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88754E5-E4C3-4043-AAD4-FB9FA2FB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19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9F9BDEE-C890-4E97-BF7F-0655A4B6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9400FCB-8888-4400-B931-4E3F4633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BBB5"/>
                </a:solidFill>
              </a:defRPr>
            </a:pPr>
            <a:r>
              <a:rPr sz="1200">
                <a:solidFill>
                  <a:srgbClr val="AEBBB5"/>
                </a:solidFill>
              </a:rPr>
              <a:t>10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1D0B150-C609-4FB1-932A-DCABCEF6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073D7C2-B111-48AB-8469-8CF53F6E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CFF45"/>
                </a:solidFill>
              </a:defRPr>
            </a:pPr>
            <a:r>
              <a:rPr sz="1050" b="1">
                <a:solidFill>
                  <a:srgbClr val="8CFF45"/>
                </a:solidFill>
              </a:rPr>
              <a:t>БЫСТРЫЙ СТАРТ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178E5AF-A130-47F0-BB44-BA63FE8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5FBF7"/>
                </a:solidFill>
              </a:defRPr>
            </a:pPr>
            <a:r>
              <a:rPr sz="3600" b="1">
                <a:solidFill>
                  <a:srgbClr val="F5FBF7"/>
                </a:solidFill>
              </a:rPr>
              <a:t>БЫСТРЫЙ СТАРТ НАГРАЖДАЕТ АКТИВНЫЙ ЗАПУСК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E31BA17-7CC2-4D93-B58A-FA2F344D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095500"/>
            <a:ext cx="35052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2C7D6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FEA5334-C0AB-436B-9021-B818F5CB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81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CFF45"/>
                </a:solidFill>
              </a:defRPr>
            </a:pPr>
            <a:r>
              <a:rPr sz="1875" b="1">
                <a:solidFill>
                  <a:srgbClr val="8CFF45"/>
                </a:solidFill>
              </a:rPr>
              <a:t>Условие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E5CACA1-5512-45B2-B20E-FDF29E13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3370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5 личных продаж PRO</a:t>
            </a:r>
          </a:p>
          <a:p xmlns:a="http://schemas.openxmlformats.org/drawingml/2006/main">
            <a:pPr>
              <a:defRPr sz="2250" b="1">
                <a:solidFill>
                  <a:srgbClr val="F5FBF7"/>
                </a:solidFill>
              </a:defRPr>
            </a:pPr>
            <a:r>
              <a:rPr sz="2250" b="1">
                <a:solidFill>
                  <a:srgbClr val="F5FBF7"/>
                </a:solidFill>
              </a:rPr>
              <a:t>за первые 30 дней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1663A3F-65AB-49A5-BF17-A4F28B16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576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Бонус выплачивается один раз и только после проверки оплат.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737665F-150B-437A-812C-C4E1E2F2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35052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42117"/>
          </a:solidFill>
          <a:ln xmlns:a="http://schemas.openxmlformats.org/drawingml/2006/main" w="11906">
            <a:solidFill>
              <a:srgbClr val="8CF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4A46BF5-D71E-4BDB-ABFB-97CDC2C0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81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CFF45"/>
                </a:solidFill>
              </a:defRPr>
            </a:pPr>
            <a:r>
              <a:rPr sz="1875" b="1">
                <a:solidFill>
                  <a:srgbClr val="8CFF45"/>
                </a:solidFill>
              </a:rPr>
              <a:t>Пример расчёта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B07C318-5EC0-4E3B-8C96-DFCBBB99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52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BF7"/>
                </a:solidFill>
              </a:defRPr>
            </a:pPr>
            <a:r>
              <a:rPr sz="2325" b="1">
                <a:solidFill>
                  <a:srgbClr val="F5FBF7"/>
                </a:solidFill>
              </a:rPr>
              <a:t>5 × $90 = $450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9DF63AE-068C-4147-9B2E-6CE0FA3A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099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CFF45"/>
                </a:solidFill>
              </a:defRPr>
            </a:pPr>
            <a:r>
              <a:rPr sz="2025" b="1">
                <a:solidFill>
                  <a:srgbClr val="8CFF45"/>
                </a:solidFill>
              </a:rPr>
              <a:t>+ $150 быстрый старт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9B85ED0-FFC0-4B07-88BA-513AA67E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052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040B749-BFC1-40D2-9747-939B17A3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95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BF7"/>
                </a:solidFill>
              </a:defRPr>
            </a:pPr>
            <a:r>
              <a:rPr sz="2550" b="1">
                <a:solidFill>
                  <a:srgbClr val="F5FBF7"/>
                </a:solidFill>
              </a:rPr>
              <a:t>Итого $600</a:t>
            </a:r>
          </a:p>
        </p:txBody>
      </p:sp>
    </p:spTree>
    <p:extLst>
      <p:ext uri="{BB962C8B-B14F-4D97-AF65-F5344CB8AC3E}">
        <p14:creationId xmlns:p14="http://schemas.microsoft.com/office/powerpoint/2010/main" val="5180507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2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A1F262-C71B-4A54-8566-3B4A6431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FB556-688D-494F-8414-11036410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CA492-14DF-4690-A960-5F7A2958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6D2BF-D7A6-4B5D-AC8F-8DCE81C6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73BB6-AAAD-44AB-94BA-75520EE0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82483-6BAB-4A96-AD3A-D07A56DA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EB47B-526E-4666-8CDD-F9FA9D0B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A502B-2D19-4112-9AB2-5E1921AC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D0024-6F69-4A63-8AE4-3E9B7800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56AAB-82B5-4D65-B0DD-5CA4FB9D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F0442-E2CF-436C-B704-C53DC140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4B9FF-523F-4A02-A2F7-947DE163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698C4-04CA-4971-85A7-37615FC4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C0639-A60D-4C07-8BC1-B8987169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BD1BE9-1D29-4C3E-9471-BC21F22B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E86A09-71B9-4D65-8711-37D952AB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1B44C4-A3D1-4242-B3C2-7D996A16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E5DC37-0672-4728-A61D-5E29ADF4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971797-B558-4F7C-AD74-EE077EED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34619-5E12-4303-A11B-70B147E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0480E2-4BA6-4D5A-9FAE-94D7F53E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6C621E-259B-40D9-B4E2-E51B3267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FCC9C9-933D-47D4-9C33-B0B1A780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B8CB86-52CE-4CE6-9DE3-2313329D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243152-BFD4-4DD4-9D83-A5481ACE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D358FF-4498-4606-ABBE-7C3BCDAD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4A24CC-38E5-4254-9E2C-F6D243DE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BC1644-EC82-4048-91B1-9A2CC899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4E7DA2-EBAF-42E3-BD22-6AEB697E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996B6E-0C69-4D71-A69C-7F27A4DE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B76F8B-B49C-416B-A255-08276415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196E27-B9A1-411C-A0DD-63A72452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39643C-B8B0-403B-99C1-44CD9297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1F1080-D023-44D2-9FBE-C432A97A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5C207D-D31F-4B85-8137-AFAF7989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DF475F-598A-4E08-AFAE-3402A514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4350DD-D885-4E7B-A81F-A73B1452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06E8A1-4F3E-4CC8-910E-BF1A68BC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75EC48-3E63-4C99-A519-8233DC69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AF1E06-F776-4855-8AD3-4F1B8935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4DA537-4942-4416-AF10-C9C42BF8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1DA1C2-9090-4125-940B-8C2C9B1B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67A1D7-5E60-4615-BFCD-0D8B0EF3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D8DF69-7758-484A-9CA4-39F41933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D411AC-63BD-41DC-B802-0FD68137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8FA0B7-F936-4530-BB40-29704330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33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955078-DDF6-4D85-A743-E7D2E000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02E13B-53CA-4165-8C3D-686FA0BE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57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CD7D5E-C8E7-4DAF-B823-219FEEFE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5F175F-2E85-4EC8-8253-DB23106A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81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0833A6-97D6-4556-AE93-F2BE78D9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22C4B3-2EB4-45A9-849D-843AD4BC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73332D-4283-4FC4-B2B3-053567AA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3C9E178-9263-4C4E-B46B-FCD8BB7B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7C58841-582A-42BF-A022-6F9E92D4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89C420B-24AB-4848-944D-C7003B10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BE045C6-9337-4293-86CD-13739675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DF1C3F2-BFB0-4FA8-8F7B-E71DEC92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97E5735-93E3-492D-B904-CA6B553A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CB20DF6-CFD8-43DE-9F04-48E308F8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A4A30EE-F052-445A-9C99-6951C008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4A82F2-6882-4809-8B48-39E5D779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1DBE8F-176E-44C9-81FD-927CD225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DD55313-1271-483C-A651-7884EBF1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D53280C-D54B-4B23-A2DC-F6CDCE0E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37B1FBD-1D35-4299-8C16-8F4A769D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72CA317-5E0F-47FD-8CC7-ED9503C8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66FE0E1-1E95-4984-BA26-133956A6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CC02907-7C0F-4E23-A6B1-886BA141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F70700B-E9D5-47B8-8658-8A503EF3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7A4FA1B-0956-4D36-B317-165505A5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9A406D3-EAE9-438E-8530-AFF86ED4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9906000" cy="3143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78D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907FEF9-7E2B-420A-B932-34987859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7200"/>
            <a:ext cx="9906000" cy="2667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8CFF4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15F3954-204A-4802-9F2A-CE81C4B9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66750"/>
            <a:ext cx="8763000" cy="2095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C2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35231CF-4BC7-4BA7-ADA4-D1E0B50E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75AE6AF-7490-48FD-B927-6A352C43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0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30F67A8-9BCF-4B8C-8F29-36EF8E00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19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1148468-81D1-4658-946D-8684970A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D1B1BAF-CD41-4232-9E41-432D9894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BBB5"/>
                </a:solidFill>
              </a:defRPr>
            </a:pPr>
            <a:r>
              <a:rPr sz="1200">
                <a:solidFill>
                  <a:srgbClr val="AEBBB5"/>
                </a:solidFill>
              </a:rPr>
              <a:t>11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9AA4EEB-9B68-431F-BF43-E4109081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4F9C1CB-3A44-4D08-9A73-8596BC69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CFF45"/>
                </a:solidFill>
              </a:defRPr>
            </a:pPr>
            <a:r>
              <a:rPr sz="1050" b="1">
                <a:solidFill>
                  <a:srgbClr val="8CFF45"/>
                </a:solidFill>
              </a:rPr>
              <a:t>КАРЬЕРНАЯ ЛЕСТНИЦА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6A237AE-87D9-476F-B013-F1D9B11A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5FBF7"/>
                </a:solidFill>
              </a:defRPr>
            </a:pPr>
            <a:r>
              <a:rPr sz="2850" b="1">
                <a:solidFill>
                  <a:srgbClr val="F5FBF7"/>
                </a:solidFill>
              </a:rPr>
              <a:t>СТАТУСЫ ПРЕВРАЩАЮТ РОСТ КОМАНДЫ В КАРЬЕРНЫЙ ПУТЬ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53BFEAE-0B6E-46C1-9A18-1EA6151F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4765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A16"/>
          </a:solidFill>
          <a:ln xmlns:a="http://schemas.openxmlformats.org/drawingml/2006/main" w="9525">
            <a:solidFill>
              <a:srgbClr val="2C7D6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3C5229F-DDF1-42E3-9818-43EC5E77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670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FBF7"/>
                </a:solidFill>
              </a:defRPr>
            </a:pPr>
            <a:r>
              <a:rPr sz="2100" b="1">
                <a:solidFill>
                  <a:srgbClr val="F5FBF7"/>
                </a:solidFill>
              </a:rPr>
              <a:t>1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833DCCE-E988-4DAF-BEC7-CE04188D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765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C6EEE02-1A52-40DE-8ABA-EF5D6A7F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576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BF7"/>
                </a:solidFill>
              </a:defRPr>
            </a:pPr>
            <a:r>
              <a:rPr sz="1575" b="1">
                <a:solidFill>
                  <a:srgbClr val="F5FBF7"/>
                </a:solidFill>
              </a:rPr>
              <a:t>Резидент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29BA1CE-A3E5-464B-B2E8-AB314B46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576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B1FC0D6-76FE-4A42-BCCA-4C6E7750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765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A16"/>
          </a:solidFill>
          <a:ln xmlns:a="http://schemas.openxmlformats.org/drawingml/2006/main" w="9525">
            <a:solidFill>
              <a:srgbClr val="2C7D62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901E2F9-A84B-4222-9BD6-64322A47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FBF7"/>
                </a:solidFill>
              </a:defRPr>
            </a:pPr>
            <a:r>
              <a:rPr sz="2100" b="1">
                <a:solidFill>
                  <a:srgbClr val="F5FBF7"/>
                </a:solidFill>
              </a:rPr>
              <a:t>2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D20229F-51C1-48BC-B4E7-AF7FF26B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765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BA4D5D4-D18D-4983-8538-CCA0A18E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576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BF7"/>
                </a:solidFill>
              </a:defRPr>
            </a:pPr>
            <a:r>
              <a:rPr sz="1575" b="1">
                <a:solidFill>
                  <a:srgbClr val="F5FBF7"/>
                </a:solidFill>
              </a:rPr>
              <a:t>Партнёр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710E671-3B60-48D7-9E72-D4A8DB2B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576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C2D5E3B-9A45-4204-B61A-4AF849E4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765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9525">
            <a:solidFill>
              <a:srgbClr val="8CFF4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CBD0318-2D03-4A9B-96E2-7E185AB9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670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20708"/>
                </a:solidFill>
              </a:defRPr>
            </a:pPr>
            <a:r>
              <a:rPr sz="2100" b="1">
                <a:solidFill>
                  <a:srgbClr val="020708"/>
                </a:solidFill>
              </a:rPr>
              <a:t>3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C93C5AE-103D-4852-AC4E-DE6F995A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765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5F1FED6-2534-4CF9-B101-AEB7F205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576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BF7"/>
                </a:solidFill>
              </a:defRPr>
            </a:pPr>
            <a:r>
              <a:rPr sz="1575" b="1">
                <a:solidFill>
                  <a:srgbClr val="F5FBF7"/>
                </a:solidFill>
              </a:rPr>
              <a:t>Мастер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ECD12D2-870F-49EB-95B9-F0040F7C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576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CFF45"/>
                </a:solidFill>
              </a:defRPr>
            </a:pPr>
            <a:r>
              <a:rPr sz="1425" b="1">
                <a:solidFill>
                  <a:srgbClr val="8CFF45"/>
                </a:solidFill>
              </a:rPr>
              <a:t>$100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38D272B-4664-4A04-BCFA-ADD8DA8C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765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9525">
            <a:solidFill>
              <a:srgbClr val="8CFF4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4BFBA29-D5FE-483F-8CBF-15726647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670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20708"/>
                </a:solidFill>
              </a:defRPr>
            </a:pPr>
            <a:r>
              <a:rPr sz="2100" b="1">
                <a:solidFill>
                  <a:srgbClr val="020708"/>
                </a:solidFill>
              </a:rPr>
              <a:t>4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0D8096E-EE42-469C-83B8-C1235553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765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ABA10EE-3E36-4BB8-9EF2-430456D2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576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BF7"/>
                </a:solidFill>
              </a:defRPr>
            </a:pPr>
            <a:r>
              <a:rPr sz="1575" b="1">
                <a:solidFill>
                  <a:srgbClr val="F5FBF7"/>
                </a:solidFill>
              </a:rPr>
              <a:t>Лидер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DDB17CD-57CC-441D-B290-E8CDCC37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576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CFF45"/>
                </a:solidFill>
              </a:defRPr>
            </a:pPr>
            <a:r>
              <a:rPr sz="1425" b="1">
                <a:solidFill>
                  <a:srgbClr val="8CFF45"/>
                </a:solidFill>
              </a:rPr>
              <a:t>$300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0F259BA-854C-4A0F-9EB4-15C12B4C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9525">
            <a:solidFill>
              <a:srgbClr val="8CFF4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4428146-9161-4AB1-B0BF-2A7169DD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670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20708"/>
                </a:solidFill>
              </a:defRPr>
            </a:pPr>
            <a:r>
              <a:rPr sz="2100" b="1">
                <a:solidFill>
                  <a:srgbClr val="020708"/>
                </a:solidFill>
              </a:rPr>
              <a:t>5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D24ABDE-FB77-43C3-993C-80809FAE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765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698E13F-7579-45F8-97BD-1820D09B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576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BF7"/>
                </a:solidFill>
              </a:defRPr>
            </a:pPr>
            <a:r>
              <a:rPr sz="1575" b="1">
                <a:solidFill>
                  <a:srgbClr val="F5FBF7"/>
                </a:solidFill>
              </a:rPr>
              <a:t>Ментор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AFD8743-A250-4D89-8299-7867968E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576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CFF45"/>
                </a:solidFill>
              </a:defRPr>
            </a:pPr>
            <a:r>
              <a:rPr sz="1425" b="1">
                <a:solidFill>
                  <a:srgbClr val="8CFF45"/>
                </a:solidFill>
              </a:rPr>
              <a:t>$1 000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E735C58-99F4-4A48-BF6D-95B854AF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765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9525">
            <a:solidFill>
              <a:srgbClr val="8CFF4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A20C486-E1FE-4386-89F4-B2210EF3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670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20708"/>
                </a:solidFill>
              </a:defRPr>
            </a:pPr>
            <a:r>
              <a:rPr sz="2100" b="1">
                <a:solidFill>
                  <a:srgbClr val="020708"/>
                </a:solidFill>
              </a:rPr>
              <a:t>6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8DA33A3-9564-44E9-93D2-8DC41424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576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BF7"/>
                </a:solidFill>
              </a:defRPr>
            </a:pPr>
            <a:r>
              <a:rPr sz="1575" b="1">
                <a:solidFill>
                  <a:srgbClr val="F5FBF7"/>
                </a:solidFill>
              </a:rPr>
              <a:t>Визионер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31DE143-2C61-466D-A402-32020915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576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CFF45"/>
                </a:solidFill>
              </a:defRPr>
            </a:pPr>
            <a:r>
              <a:rPr sz="1425" b="1">
                <a:solidFill>
                  <a:srgbClr val="8CFF45"/>
                </a:solidFill>
              </a:rPr>
              <a:t>$10 000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E9AABE7-5658-4BEA-A548-6700F860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57800"/>
            <a:ext cx="659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AEBBB5"/>
                </a:solidFill>
              </a:defRPr>
            </a:pPr>
            <a:r>
              <a:rPr sz="1500">
                <a:solidFill>
                  <a:srgbClr val="AEBBB5"/>
                </a:solidFill>
              </a:rPr>
              <a:t>Статусные бонусы выплачиваются один раз за первое достижение статуса.</a:t>
            </a:r>
          </a:p>
        </p:txBody>
      </p:sp>
    </p:spTree>
    <p:extLst>
      <p:ext uri="{BB962C8B-B14F-4D97-AF65-F5344CB8AC3E}">
        <p14:creationId xmlns:p14="http://schemas.microsoft.com/office/powerpoint/2010/main" val="3385358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2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44E091-27D4-4CE5-BACD-4EE6C73E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5171A-B998-4CB1-817E-FDAF47AB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0EDB0-8272-4941-B009-66252C95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ADB39-E545-4951-BCB4-79AB7125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C262C-AAFE-44D4-8375-5D200C63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4C2C7-FFC4-4FFD-9A4C-0BB28CED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FC592-4771-4E86-9E08-7A346D19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1D987-C0E6-4A57-9634-F9DCF201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630DD-C79A-4762-9E07-E5F25EC7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D72942-297C-437A-86FF-99D2EC52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0852D-70C6-4766-BBC3-7F3612C7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49E047-ABC6-4812-AD36-B12EA799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60F1C3-1FAA-4F3C-8156-B8FD43CE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3DEBA4-6477-4346-A69F-345E0F0E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99493-144E-443A-B2D0-46BCF148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AF7358-E62E-4ECB-9614-73C3C236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5AF078-4E09-441F-A437-A1F454D6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9BB60E-6711-483F-95DA-524460B0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1F1172-E78A-491C-8C81-5B8A095F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70B68E-C24D-41CD-80AB-3A75E701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603308-76CE-4294-BBF7-4E9CB4D7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41D5DE-382C-4F80-A698-D1FD158E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90B182-13E4-438C-AD8D-0C1CBA35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D02570-BFB0-4F26-A98E-EEA024EA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357787-CC16-4D59-9471-D999C032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E1D4DB-04F9-41FF-B6A7-1227667C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7506B3-7806-41CD-9BCC-631FEF16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604F2A-85D1-45DB-81D0-C3F81015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990D64-9DE1-41CD-98BA-95A1BED0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159B2D-E0C6-4DD0-931C-DAD8862B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05073C-F008-422F-9303-6974684B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CF6FFE-BD6C-4E03-9270-8581041D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44F93B-C3A5-461F-84E4-522747CB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31C36D-023C-4095-8A44-DB2E90DC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A94D90-386E-4125-B101-6A110DCD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6AD82D-0A0B-44A5-85B5-A542260C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5A0B5F-7CCC-44D2-A26B-69E89B70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29EA66-B858-4C44-8A5E-AD36BE68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B93D2D-C807-4AC0-811C-21FCE1B2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BFD8D5-01FC-41EF-B92A-8650FF04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2671BE-1833-47D8-A492-EC44DA18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9B0C90-A7B4-41C7-9C0E-11221573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1924B5-4EE4-4CD5-9EA6-CBDB45D2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E94B16-302F-4DA3-890C-1FBF64DA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DACFC4-7395-43AA-B651-119B1C96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3F2596-1857-421A-9E58-CC70C80C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33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9EBC9F-01DA-49C4-AD63-4CADFF16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D81B6D-254C-4BF1-BE81-B38E691B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57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E947CE-686B-4AF4-8F98-8EDF12E3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FC9F4D-12F3-4189-8117-2EED78A3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81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F663BF-1C7E-4C19-9BCC-AEF38C5B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F75633-A1D1-4C1C-8143-3C998D53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875E45-AD41-42A8-A5D7-CDFBFEA9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25F645-C5C3-418D-A406-374FAC58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9ABAA0-9C66-49A7-AF4B-5850760A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07A5E5-2F34-433E-95D2-B77F2D0A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F20A06-37AE-463F-8C7C-E328010E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A1DE4C-9AC1-4A34-9A5F-D6222419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33AEBFE-7D55-4EA2-9795-631992BF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14C85B4-2752-40AF-8DF7-50A56E24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7A21704-E033-4A2B-90EC-EE80B226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AD9D17B-A688-4A64-A360-14039644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D18F713-D0E9-4DB8-B807-F3B77325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25D4CC5-7F4B-4501-8393-1AAD3D0E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763E7D5-3291-40C1-A3E9-6EEC4C27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C9AFF8E-47B2-4F69-8FFD-8F112DB3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3B933EA-0CE1-4CAB-89E2-BDA1E7FF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30ADEA2-DCD4-4439-AB1B-EE1B79E5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CBF3FEE-8AFB-4126-B4D3-8094129A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DB32769-B4BD-45D3-B0DB-D6F7E943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B474617-C061-4143-8737-55F83FB3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C7BE1C4-4766-481E-A87E-1D076D7E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9906000" cy="3143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78D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1E509F4-88C6-4AF3-B358-1C6DA5C4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7200"/>
            <a:ext cx="9906000" cy="2667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8CFF4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52B475A-9B29-4BDF-8AEC-C7F8FE25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66750"/>
            <a:ext cx="8763000" cy="2095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C2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910CBC4-2066-454C-B92B-869B82F0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CC67EDD-5E53-4C5D-85B3-F892D925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0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E7A2AAD-C9B3-4878-AADB-9733992A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19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043D9E8-91EF-46D6-B142-003654E8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DD0B820-635E-47A5-AA16-0A86528B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BBB5"/>
                </a:solidFill>
              </a:defRPr>
            </a:pPr>
            <a:r>
              <a:rPr sz="1200">
                <a:solidFill>
                  <a:srgbClr val="AEBBB5"/>
                </a:solidFill>
              </a:rPr>
              <a:t>12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7F472C3-1C0C-418B-BB6A-438D925D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1F9534D-935D-4A09-94FB-B284ED9C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CFF45"/>
                </a:solidFill>
              </a:defRPr>
            </a:pPr>
            <a:r>
              <a:rPr sz="1050" b="1">
                <a:solidFill>
                  <a:srgbClr val="8CFF45"/>
                </a:solidFill>
              </a:rPr>
              <a:t>УСЛОВИЯ СТАТУСОВ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5C2DEF3-2F03-4B0F-84D7-2B56A92E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5FBF7"/>
                </a:solidFill>
              </a:defRPr>
            </a:pPr>
            <a:r>
              <a:rPr sz="2850" b="1">
                <a:solidFill>
                  <a:srgbClr val="F5FBF7"/>
                </a:solidFill>
              </a:rPr>
              <a:t>ДЛЯ РОСТА НУЖНЫ ЛИЧНЫЕ ПРОДАЖИ И СБАЛАНСИРОВАННЫЕ НОГИ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F1BD452-B296-4619-8124-37AF20E7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24050"/>
            <a:ext cx="8648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1233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2F8EEAA-20D5-4C08-94EA-90AB572E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336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8CFF45"/>
                </a:solidFill>
              </a:defRPr>
            </a:pPr>
            <a:r>
              <a:rPr sz="1575" b="1">
                <a:solidFill>
                  <a:srgbClr val="8CFF45"/>
                </a:solidFill>
              </a:rPr>
              <a:t>Мастер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74E518D-D926-42EB-9C51-9EE22DED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5 личных продаж PRO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13B460A-F3BF-4C41-90AD-446A4165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145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$100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24D0769-9573-4472-A0FC-0D30C4B1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0350"/>
            <a:ext cx="8648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71316"/>
          </a:solidFill>
          <a:ln xmlns:a="http://schemas.openxmlformats.org/drawingml/2006/main" w="11906">
            <a:solidFill>
              <a:srgbClr val="1233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E4A53EF-4092-4D1A-BD4D-A5EA7B97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09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8CFF45"/>
                </a:solidFill>
              </a:defRPr>
            </a:pPr>
            <a:r>
              <a:rPr sz="1575" b="1">
                <a:solidFill>
                  <a:srgbClr val="8CFF45"/>
                </a:solidFill>
              </a:rPr>
              <a:t>Лидер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A8285CC-BE68-4A1C-9682-E890DEA8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90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2 Мастера в разных ногах + 500 PV слабой ноги / месяц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E23CC27-09ED-4B9A-9DE5-BDE110FE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90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$300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8F9D268-C45C-4E11-81BA-007EC754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76650"/>
            <a:ext cx="8648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1233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4B01D94-E164-4C03-BF00-E19DD527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862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8CFF45"/>
                </a:solidFill>
              </a:defRPr>
            </a:pPr>
            <a:r>
              <a:rPr sz="1575" b="1">
                <a:solidFill>
                  <a:srgbClr val="8CFF45"/>
                </a:solidFill>
              </a:rPr>
              <a:t>Ментор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7045E6F-3604-418F-BDCF-C54E85B5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67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2 Лидера в разных ногах + 2 500 PV слабой ноги / месяц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77BA4A2-F841-4E03-A376-87E7598A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671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$1 000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42FFA74-A702-415E-BEF9-58913CC5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52950"/>
            <a:ext cx="8648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71316"/>
          </a:solidFill>
          <a:ln xmlns:a="http://schemas.openxmlformats.org/drawingml/2006/main" w="11906">
            <a:solidFill>
              <a:srgbClr val="1233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917C305-2A96-47BE-9C99-E297DB8D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8CFF45"/>
                </a:solidFill>
              </a:defRPr>
            </a:pPr>
            <a:r>
              <a:rPr sz="1575" b="1">
                <a:solidFill>
                  <a:srgbClr val="8CFF45"/>
                </a:solidFill>
              </a:rPr>
              <a:t>Визионер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DDA501D-0E7A-40DC-8957-F6675B07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43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2 Ментора в разных ногах + 10 000 PV слабой ноги / месяц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7D3A2F6-1EA6-4DE2-913E-523DFA56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43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$10 000</a:t>
            </a:r>
          </a:p>
        </p:txBody>
      </p:sp>
    </p:spTree>
    <p:extLst>
      <p:ext uri="{BB962C8B-B14F-4D97-AF65-F5344CB8AC3E}">
        <p14:creationId xmlns:p14="http://schemas.microsoft.com/office/powerpoint/2010/main" val="9677607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2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F09F9A-9F37-4C52-9E08-FDCEBD67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11725-8571-49E2-8448-46F46FF4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AFB9C-6E8C-4E8B-9DAE-0EDEE3CD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38616-043E-470B-8E0F-DEADB59C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B5AB2-F737-4FE4-9EF7-34F226ED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5BCB6-ECB5-4214-B98D-0A91C56D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EE4B8-6178-43DC-AD11-32913B3F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C2E71-C6CB-4561-846E-311F89F1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02A84-A624-46A4-8726-C94B7700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70BAA-7E32-4EE2-B72C-AB465BAE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B341E9-8803-42CF-BDA8-6EC2EA5B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85C18-54AF-4563-970B-473BA1CB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0CE77D-06FF-4B67-9B02-355841D5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BF318-1001-4692-A3D6-41F477FE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A69FF-A84C-4795-BEC5-80672572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8F2AC-C00D-4FA2-9FDA-D93406B0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2F6436-34DB-474D-B6D9-A7B3A428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988C8C-8C3B-4699-9884-F761336A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983303-83B4-4ED3-AF6C-57D6DF0A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797D45-541D-40B0-9223-7EAADFB1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EFB237-5B19-4E03-BF4B-8864C652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7D116A-AB57-4967-8D6F-908D2D39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CAF548-E6B4-4E0A-BE12-BC8797B1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E4B024-82B3-4660-9421-33321CA4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C3B6F1-785D-48A4-ACCC-A832C42E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ED8D3F-C352-4409-8A97-3F3F7485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0181B2-F745-4CEA-9D00-0DA311FF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FD4FFB-74C2-4CE0-B8FD-884EEE75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2283F4-BF49-43D1-84DB-CD6B7377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15871A-2EA3-42FF-8433-68E19388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5EEA31-2A82-40BD-BD9B-B4B5CAEA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FA97DF-6162-4305-ABA4-27B5E441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EB65A5-9CB6-4566-9A2C-CB897C56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4A3DE3-3273-4E2D-8C55-F01883D7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3D289B-CDA1-4BC8-B10D-8B996A59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1E8BF3-5D42-4114-8E14-7C5FB3CC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31B4BC-DC66-4507-B1A0-52AEE1AC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C5E7FF-056F-4708-9A20-B2263B64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9B7589-9F1C-46D9-8D09-6F6687DA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B2C8A4-E59E-4875-A435-DA140546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7CD38F-FE38-43D0-9C6B-611C5024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B47961-F613-4E47-B4EA-112D3A62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F884DB-4DB6-4DD0-A76E-9D8C7C83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5871A8-4F1D-4AF6-8588-740B5105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266B8D-8388-4C56-99A6-DBC56B38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E3B1D6-054E-4733-8642-07CCE81C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33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BA5A85-8DB8-48D1-BFB8-B50E9E5A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32DEBF5-D762-4037-92CD-708898FB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57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9E6EC4-B3D2-4565-9E6D-8C5F2605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49F2DD-A6B1-4A11-AF59-079D5CA2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81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6223079-3B5E-49DB-81B3-DB59BBC8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CB0846-2DD4-40C2-9BE0-A02FF3F1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CEAF1F2-5748-4D26-A24D-58BBD953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B02E43-94BF-44D1-BA4A-D547BBDB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F6462FA-D0A9-4E97-A7D6-CA3E13A0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6C231FE-9821-4EDE-A676-9FC66ECE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D2DB865-E1E5-4FB8-B6B4-95142E7E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83766E1-EB18-4EEE-B608-5F948D3F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9058A9E-B395-4137-B5CB-65BE32DD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EE91992-2A07-443E-A0C3-FFF5412C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FC98BFE-97C4-41E9-84AA-CA163AE9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26DAF41-7D7C-48C2-B1FF-E8B8B5B9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5353A6C-849B-46EA-B98B-3A557C03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09B4FC8-8753-4D3E-BB7B-F9C75D1D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735300E-9C85-406B-95BC-A7B850F5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4E602F9-01D1-4DFA-B6A9-E0BC5FAD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20E7A19-A1ED-4638-BC03-56941069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6937E31-A29C-43C7-AE9A-AA8DEACC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20C02C9-E0C1-4C5A-A96E-FC08816C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99B9692-0227-4F41-95A1-C3C98D40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1413D2A-16AC-41DF-A672-D6F71D10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4887D1E-C6AF-4F55-9514-2330B44F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9906000" cy="3143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78D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D386EFD-D162-4579-8738-8E6788C5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7200"/>
            <a:ext cx="9906000" cy="2667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8CFF4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D038479-C86E-42B9-855F-89EEC618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66750"/>
            <a:ext cx="8763000" cy="2095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C2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6DA1770-D3BD-46B0-90CE-E9F63057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F26E8DE-6198-4CAB-852B-7047F12B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0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7FF1AD7-FFAD-481E-8209-25006A07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19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4D8F75F-7DB1-47F6-A292-9A495762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CB99DC3-976C-408C-A375-21B2917E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BBB5"/>
                </a:solidFill>
              </a:defRPr>
            </a:pPr>
            <a:r>
              <a:rPr sz="1200">
                <a:solidFill>
                  <a:srgbClr val="AEBBB5"/>
                </a:solidFill>
              </a:rPr>
              <a:t>13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134DA99-C287-47EB-AFF3-F815112D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C06038A-DEB9-4F65-B98D-A033C38B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CFF45"/>
                </a:solidFill>
              </a:defRPr>
            </a:pPr>
            <a:r>
              <a:rPr sz="1050" b="1">
                <a:solidFill>
                  <a:srgbClr val="8CFF45"/>
                </a:solidFill>
              </a:rPr>
              <a:t>ЛИДЕРСКИЕ ФОНДЫ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B866A0A-A21D-4C4B-B243-91A45ABD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5FBF7"/>
                </a:solidFill>
              </a:defRPr>
            </a:pPr>
            <a:r>
              <a:rPr sz="2850" b="1">
                <a:solidFill>
                  <a:srgbClr val="F5FBF7"/>
                </a:solidFill>
              </a:rPr>
              <a:t>ЛИДЕРСКИЕ ФОНДЫ РАСПРЕДЕЛЯЮТ РЕЗЕРВ МЕЖДУ КВАЛИФИЦИРОВАННЫМИ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AD1D6DF-00E7-48E5-B8E3-056A0736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95500"/>
            <a:ext cx="2476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2C7D6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3FCB41A-8D09-4606-8057-E8A4EDDB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622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Фонд лидеров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324AF53-3770-45DC-894D-D6B1AE2D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432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Лидеры и выше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A84AA54-05D2-4D64-AB8A-FDA85264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623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8CFF45"/>
                </a:solidFill>
              </a:defRPr>
            </a:pPr>
            <a:r>
              <a:rPr sz="4200" b="1">
                <a:solidFill>
                  <a:srgbClr val="8CFF45"/>
                </a:solidFill>
              </a:rPr>
              <a:t>1%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909BD84-8527-4DBF-B593-3EA2DF51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2476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2C7D6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76586E7-C4B7-4DCA-B876-915937B9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622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Фонд менторов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EDB2836-60E5-453E-8134-8A98C7DA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432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Менторы и выше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48C4A2B-E8C1-4270-98EC-EC97BBEF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623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8CFF45"/>
                </a:solidFill>
              </a:defRPr>
            </a:pPr>
            <a:r>
              <a:rPr sz="4200" b="1">
                <a:solidFill>
                  <a:srgbClr val="8CFF45"/>
                </a:solidFill>
              </a:rPr>
              <a:t>1%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743C745-7286-44BA-BDF2-EA040DD7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24765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8CF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229B604-D90F-4DEE-BB26-963033BD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622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Фонд визионеров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576FF0A-4BF1-4EC3-8709-59144536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Только визионеры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3A2DBEA-BC0F-4600-B929-E47DC632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623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8CFF45"/>
                </a:solidFill>
              </a:defRPr>
            </a:pPr>
            <a:r>
              <a:rPr sz="4200" b="1">
                <a:solidFill>
                  <a:srgbClr val="8CFF45"/>
                </a:solidFill>
              </a:rPr>
              <a:t>1%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AEE02D5-3139-4CB3-85CD-BA7F5207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62500"/>
            <a:ext cx="73914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B1511"/>
          </a:solidFill>
          <a:ln xmlns:a="http://schemas.openxmlformats.org/drawingml/2006/main" w="11906">
            <a:solidFill>
              <a:srgbClr val="2C7D6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56E2949-DF3A-41D7-858D-3757402A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387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D7E0DC"/>
                </a:solidFill>
              </a:defRPr>
            </a:pPr>
            <a:r>
              <a:rPr sz="1425">
                <a:solidFill>
                  <a:srgbClr val="D7E0DC"/>
                </a:solidFill>
              </a:rPr>
              <a:t>Пример: при выручке $300 000 каждый фонд по 1% равен $3 000. Если в фонде 10 участников, каждый получает $300.</a:t>
            </a:r>
          </a:p>
        </p:txBody>
      </p:sp>
    </p:spTree>
    <p:extLst>
      <p:ext uri="{BB962C8B-B14F-4D97-AF65-F5344CB8AC3E}">
        <p14:creationId xmlns:p14="http://schemas.microsoft.com/office/powerpoint/2010/main" val="3245707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2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AD46CD-1059-4847-B055-EB7BD459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8E0DE-0B97-4FDA-90D6-96F2C4C4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BB389-37E4-472A-8656-38C8388C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36572-6C86-498A-9366-DE20C894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AE2B5-465C-42DE-AE26-E1ABDDA4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D00A8-35B9-4E3C-8E63-4DE8FC97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261C7-E6BE-437B-BE34-B18F35C8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CD773-2D64-4085-93C0-E1C47057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ED08F-43FF-4FF6-93E3-214741BB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7E38E-8DED-4DD1-8172-74DD240B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60E1C2-3EBC-44E1-A799-A69FD225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C4543-2A8F-4C1F-93B7-6E307992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37A364-CC7B-49C5-B149-5F98F0DB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8E72A2-459E-496C-B6E5-F74730BE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ED550-0F95-4588-A5AF-C3F8B240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C4B306-3D8D-46F4-90F7-407EB41D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572C6B-CCCB-4C8C-AC05-9D942F44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AAEE41-3C98-44C6-96C6-B93D8B07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9B11D9-E6F5-47B1-992D-48F71E46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3F58D5-A422-4AD7-85C5-A1F50674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AAEE3E-5FCE-49DF-B88F-2553AA9D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3660D3-5801-431D-A3AB-5FE4F4DD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13C1D3-E27D-4DF1-BC48-9308652E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A6DF68-F92A-403A-BFDD-2B3E1B41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57B5C2-7D4A-4F29-A0A2-0EF76B0F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E9B02C-C9DC-4C0E-B437-48D33142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CE6B77-CBA7-4CAB-B4AF-A10FB8E5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9EF4CB-8C0D-420D-B377-1554C305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A54496-688B-4BB8-8BC4-6F40B1DF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07013A-4288-49AA-B358-B8C3A04D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9A1D60-C383-4D45-A034-A60EC5FB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766446-8F3F-4933-812C-5A0E3DFE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8032C1-87C4-43DB-A6F3-C80BDBF7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BC6CDC-AA3F-4921-B3BB-C26BE557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9BFCAF-518F-410F-AA92-B8CA6149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2FF0E4-00B9-4F82-AC5B-D5381A9F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4F75F3-D3D5-4D2E-8872-3C667151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142AAD-7EA2-4AB3-9E43-1DBE657D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AC9209-6B93-4E96-AACA-806B8472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5E4495-C13B-45C3-9D7B-B50BA07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9B5E76-458D-4B72-AE82-1773806E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A227C9-AE52-46BC-AEAB-74BC04C1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620CF5-5248-40F7-992C-FB46251D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3E8D36-34F6-4E14-ABFA-1019089F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507E06-5205-48FE-A3AC-82B6AABC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4D5EB8-9190-4A97-9ABC-F73428A6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33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D8F002-D6A7-416B-9A11-D5CC3999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8FEDF8-CF90-4F62-A341-19AE19E1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57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5EED9E-84D4-4DDD-96D5-9585CC2E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E297B50-19F2-4421-82F2-74C3C157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81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5F1F51C-D05A-4F53-8B14-A3043326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5B1BD73-B62E-4870-922F-BB8D3FD3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1538F7C-5484-46DF-977E-28AC5A5B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A885344-646F-4AAF-AD55-2D2CD4AE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86B01C-256F-4316-AEF9-B745644C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A396913-A862-42DC-A3EA-5BF17853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C098592-0399-4E89-A41C-F13E7299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BF4D924-FA37-48A0-8394-08BDB976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BDB040B-301F-49D3-9D6F-230B69B1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D0F07B7-68D9-49B9-9251-56852C1F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322B9B3-63DB-4436-B5ED-F11B4D71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2210E4E-B327-45F8-8174-9C35CC91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E2D11BF-56E8-4090-92DE-D787BF24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2168938-2792-4013-9A87-D2D9DCFA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4F96E2D-108E-4A1B-A25E-BCD95A78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FAEF9B2-648C-4D49-970F-66538E77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F2CA72E-A73B-4748-810C-F19E88F3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DBBE919-CE9B-4362-BB90-7454AD95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822600E-CBB3-4EDC-BF47-0E79270D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3A8649A-284D-46BE-BC4E-3BF39309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EB32CBE-1097-4B8F-9D99-CAD43ADC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4313DFE-039A-4E32-9AD7-C19A2F2B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9906000" cy="3143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78D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4D22E35-74F2-436D-B2F9-75FC96DF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7200"/>
            <a:ext cx="9906000" cy="2667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8CFF4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8612F32-1B91-4093-8FA5-F4CE055E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66750"/>
            <a:ext cx="8763000" cy="2095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C2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48EA842-6ECA-407B-AD88-BF306938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ED15EDB-DF3A-4CE3-9CC8-F6C40E4E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0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58D9111-62F8-47FF-B0D2-6BCEA772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19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7AE96FC-5BD9-4D9D-A48B-AA63C504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319E1A3-1D4D-4D73-9A80-27CE459E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BBB5"/>
                </a:solidFill>
              </a:defRPr>
            </a:pPr>
            <a:r>
              <a:rPr sz="1200">
                <a:solidFill>
                  <a:srgbClr val="AEBBB5"/>
                </a:solidFill>
              </a:rPr>
              <a:t>14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D101FDB-A9D8-4A66-BC6D-36A20996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9058754-C093-4A7F-A481-367BB716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CFF45"/>
                </a:solidFill>
              </a:defRPr>
            </a:pPr>
            <a:r>
              <a:rPr sz="1050" b="1">
                <a:solidFill>
                  <a:srgbClr val="8CFF45"/>
                </a:solidFill>
              </a:rPr>
              <a:t>ПРАВИЛА ВЫПЛАТ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C7BD309-16F5-4B3F-A909-6A8F8D60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5FBF7"/>
                </a:solidFill>
              </a:defRPr>
            </a:pPr>
            <a:r>
              <a:rPr sz="2850" b="1">
                <a:solidFill>
                  <a:srgbClr val="F5FBF7"/>
                </a:solidFill>
              </a:rPr>
              <a:t>ВЫПЛАТЫ СТАНОВЯТСЯ ДОСТУПНЫМИ ТОЛЬКО ПОСЛЕ КОНТРОЛЯ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5E18706-A801-4667-9673-AF094A0F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05000"/>
            <a:ext cx="3905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71316"/>
          </a:solidFill>
          <a:ln xmlns:a="http://schemas.openxmlformats.org/drawingml/2006/main" w="11906">
            <a:solidFill>
              <a:srgbClr val="2C7D6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E3E0FAC-301A-43C7-A16A-62949A6D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52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DF0F7CE-756A-49F9-B9D0-10DDC65F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76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Холд выплат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D881B53-6693-44D3-9AD2-78E7BB06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14 дней на проверку оплат и возвратов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A17C234-E0AC-40E4-A45B-68B20FC9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05000"/>
            <a:ext cx="3905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71316"/>
          </a:solidFill>
          <a:ln xmlns:a="http://schemas.openxmlformats.org/drawingml/2006/main" w="11906">
            <a:solidFill>
              <a:srgbClr val="2C7D6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43C02C9-9537-4C80-B220-91B9EEC5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C35024E-2958-481B-B83C-B50061F0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76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Подтверждённые начисления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4F7DA5A-D90F-445C-9E19-2651EE4B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6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не сгорают и сохраняются на балансе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A7C1EFC-3B40-467B-A8A7-22475413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28950"/>
            <a:ext cx="3905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71316"/>
          </a:solidFill>
          <a:ln xmlns:a="http://schemas.openxmlformats.org/drawingml/2006/main" w="11906">
            <a:solidFill>
              <a:srgbClr val="2C7D6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CABF0D4-F77E-438C-A3F3-82806067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FBBBA97-BFAB-418A-8A9F-FDCE89DE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0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Возвраты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8FB7C53-3A49-465D-B1BE-BC70B76A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86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создают обратные корректировки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392E466-6018-49EF-9FD9-D6A5F43A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28950"/>
            <a:ext cx="3905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71316"/>
          </a:solidFill>
          <a:ln xmlns:a="http://schemas.openxmlformats.org/drawingml/2006/main" w="11906">
            <a:solidFill>
              <a:srgbClr val="2C7D6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9E9529A-3467-4D8D-B84B-D8D2DC1C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5407A93-E207-49D3-A7CB-F0D649B0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00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Быстрый старт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A20E0E5-9760-49D1-B3E7-3326C6AD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выплачивается только один раз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C4EF4CC-46F4-4B29-BD2E-423EA630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52900"/>
            <a:ext cx="3905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71316"/>
          </a:solidFill>
          <a:ln xmlns:a="http://schemas.openxmlformats.org/drawingml/2006/main" w="11906">
            <a:solidFill>
              <a:srgbClr val="2C7D6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3B20A97-4BD6-4FB7-9338-95EFCCD3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00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28701F4-EF36-466D-A5B5-4E11E850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243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Статусный бонус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DAE6C6F-42E6-4970-8F10-6BF8BB06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10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только за первое достижение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085E5F0-A840-478D-8428-1CDCDD21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52900"/>
            <a:ext cx="3905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71316"/>
          </a:solidFill>
          <a:ln xmlns:a="http://schemas.openxmlformats.org/drawingml/2006/main" w="11906">
            <a:solidFill>
              <a:srgbClr val="2C7D6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62BA6E3-A429-4452-89EE-966090D6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00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6E56925-18BF-4943-A6A7-03BF8A81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243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Верификация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BA64F4D-2BF2-4F88-96E4-B190E389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10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нужна для вывода средств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2EE4002-D8C3-4FD2-AA47-7C449672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6959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AEBBB5"/>
                </a:solidFill>
              </a:defRPr>
            </a:pPr>
            <a:r>
              <a:rPr sz="1275">
                <a:solidFill>
                  <a:srgbClr val="AEBBB5"/>
                </a:solidFill>
              </a:rPr>
              <a:t>Все выплаты являются расчётными начислениями и зависят от выполнения условий, проверки оплат и отсутствия нарушений.</a:t>
            </a:r>
          </a:p>
        </p:txBody>
      </p:sp>
    </p:spTree>
    <p:extLst>
      <p:ext uri="{BB962C8B-B14F-4D97-AF65-F5344CB8AC3E}">
        <p14:creationId xmlns:p14="http://schemas.microsoft.com/office/powerpoint/2010/main" val="19769770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2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FA78B6-7DEF-45D0-B456-E8894C89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F3F19-4337-42BC-9981-685D5D34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D0BF2-0777-4E99-8CED-16795C7A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0E8D0-9488-403A-8FAE-DF48BF68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20C71-B7D3-414B-9488-1B5E5D83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CD349-D698-4913-80B8-77C0A829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010E9-6657-4671-84F2-41C64FD2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7B7D3-562A-4E04-98AE-17BBE1CF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17076-2D02-4EA1-A6D1-73913823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8A18F-2C90-43D3-BF40-D9749AA7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F2DE2-8E48-4251-9A4D-50F0C6D6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518DA-4AE1-430C-891C-63AFCF36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D4BE3-792F-45A6-B32E-5A5A2B25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A085F3-2C76-406F-93C3-73992CE8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D84A1A-04F5-48CF-8A51-005DC8B3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0AD742-9AE8-4E2D-BC63-F96F87B5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D5C9B6-8AEE-46AD-BFF8-CCD2DB4D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D3AD54-EB8B-4C16-8F89-8E8819A1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3A36A5-4367-4D9B-933E-0DDBA5DE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74B7A2-8FCB-40A2-88BF-C3126648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DD4FBC-D8E0-4233-ABC4-0C6EC39D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83EA3C-6ECF-488B-A96C-0A44787F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74AF6F-67E4-45E6-A9B3-6987EE17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BAC5F9-4F61-4DF5-AEE4-EF8C2B27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F41A92-80E2-4911-8FFC-EEC7F17E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580C57-15DC-413F-BC04-08D7E005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E83B68-D650-4340-9BAF-4459FEC2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6C889C-E71B-4E09-8B34-E9090E4B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CB982F-EA39-4CB3-84C8-A6C71B6D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D99382-70DF-4840-BAE9-96BE3D86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BC472A-461B-4F7E-B45F-843E2E86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69E97D-76E5-48D0-9EAD-F0D4F238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76FE8F-F35B-44A2-AF9F-D183F4B4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D9C8D7-1C95-440B-8D8B-EA9B45BE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558C4A-A8D6-4CCA-ABA4-61DF2832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13AAF6-A4DE-4A51-BA6E-19D5590C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2817F8-3C19-4B1F-913D-53C63206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0DD389-75D2-4F5B-AEAF-47D7F297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014DF2-B83B-4A2F-B751-B560F951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4AD17A-7DE4-42D4-B971-E25250B1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360862-CD5C-451D-823A-6F21C0D0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4031DC-5052-4611-86FE-BB66260F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CD5DBD-98AD-4852-B8AE-7D02D8E3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987EDB-A8C5-44F0-93F7-BCBBD22D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D339C0-14E0-4DBC-B82D-E1E87FB2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F622EB-8D52-48F4-84AA-238F2EF2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33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677AC4-166A-4456-8C75-E81F28C5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95E6E0-A919-47F1-BE71-76664A61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57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079B9A-C3D5-4DA7-8B5F-4116C81D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661D168-478B-4F58-B04C-176E6242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81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3D7D8B2-0AF7-41EA-843B-C641A4A7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13F055-DFFC-4E9C-9A68-4E114E85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86F7E17-7958-4DDD-9D97-0C902151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E03443-A4E1-480A-802D-0570DC30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15347C0-CDE6-4337-8300-7B34F606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7D00F8B-301C-4017-9129-93616E98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AFD761-214F-4371-B0CB-E9851B6C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265A32-4414-43D4-8DC1-4ADB1CD0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DA16B51-EB54-496A-B24C-90D62D38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E913757-41D9-4A93-B3A6-7AC17AEA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AFE085-C0AD-4735-93EC-7240337B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750A586-CF53-43E5-BEDB-2198623C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C6B622F-C9E9-44EB-BA5D-9E5F486A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637FDE1-6DE3-4694-BAF9-17CDD518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546A231-CB1D-405B-8B51-D095E26A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0F85E2C-364D-4BF2-AC31-478E8E39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E7B8628-63EC-446D-94DD-106F109E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E68DE56-5B41-4F77-841E-2B582B07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4A08171-6744-4734-8E44-6C84452A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D40AC1F-D2B0-4F7C-B310-C23F75BA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F7C4135-E84C-456E-8003-3D626E45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B00D3E4-AFBB-457D-8228-8FD2598A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9906000" cy="3143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78D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5978C80-526D-47B0-B46C-092D56B7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7200"/>
            <a:ext cx="9906000" cy="2667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8CFF4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7C1140-7187-4F16-9A28-AC7BA7EF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66750"/>
            <a:ext cx="8763000" cy="2095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C2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5F90D5F-7603-45A8-A735-51FF3F4C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B4D5744-0A92-4B86-8F17-BBCD0B1C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0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C41A398-52CA-4217-BD7E-6E090BE2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19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E9C0A3B-480B-420F-9DE2-71DF06AE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5943B1A-FB1F-4136-B98B-FF5D9B81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BBB5"/>
                </a:solidFill>
              </a:defRPr>
            </a:pPr>
            <a:r>
              <a:rPr sz="1200">
                <a:solidFill>
                  <a:srgbClr val="AEBBB5"/>
                </a:solidFill>
              </a:rPr>
              <a:t>15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56DD255-1855-47EB-872B-05CC4F42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FF631F1-C08C-4BB7-825B-CE487487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CFF45"/>
                </a:solidFill>
              </a:defRPr>
            </a:pPr>
            <a:r>
              <a:rPr sz="1050" b="1">
                <a:solidFill>
                  <a:srgbClr val="8CFF45"/>
                </a:solidFill>
              </a:rPr>
              <a:t>ВОЗВРАТЫ И КОРРЕКТИРОВКИ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5BFF206-E092-4788-9256-7CA1B611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5FBF7"/>
                </a:solidFill>
              </a:defRPr>
            </a:pPr>
            <a:r>
              <a:rPr sz="2850" b="1">
                <a:solidFill>
                  <a:srgbClr val="F5FBF7"/>
                </a:solidFill>
              </a:rPr>
              <a:t>ВОЗВРАТ ЗАПУСКАЕТ ОБРАТНЫЙ РАСЧЁТ ПО ВСЕЙ ЦЕПОЧКЕ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D8718B6-A1A4-4665-AF3E-2563C52D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90750"/>
            <a:ext cx="2000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FF6B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D9AC610-1CC8-43B2-94DF-BEE8A30A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003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6B6B"/>
                </a:solidFill>
              </a:defRPr>
            </a:pPr>
            <a:r>
              <a:rPr sz="1950" b="1">
                <a:solidFill>
                  <a:srgbClr val="FF6B6B"/>
                </a:solidFill>
              </a:rPr>
              <a:t>1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22E473E-D213-4848-A267-466070A6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956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Покупка отменена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F299E37-0C69-4129-8D57-B14C683B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4480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заказ получает статус возврата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ECA15BE-AE3D-42BF-899B-A84F75B6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190750"/>
            <a:ext cx="2000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2C7D6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0FD1008-9FFE-4330-8BBD-7770AB90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4003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CFF45"/>
                </a:solidFill>
              </a:defRPr>
            </a:pPr>
            <a:r>
              <a:rPr sz="1950" b="1">
                <a:solidFill>
                  <a:srgbClr val="8CFF45"/>
                </a:solidFill>
              </a:rPr>
              <a:t>2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4A57DF2-6649-49D1-BE79-CFB3AEAD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8956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PV списываются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9FEFCBF-4EEB-4E3C-AF35-0814924E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4480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объём убирается из структуры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29AF6C1-FEC7-4D1D-A1D5-C312C4AB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2000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2C7D6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D129FAE-12B7-4CB3-8D91-9B1513AD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003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CFF45"/>
                </a:solidFill>
              </a:defRPr>
            </a:pPr>
            <a:r>
              <a:rPr sz="1950" b="1">
                <a:solidFill>
                  <a:srgbClr val="8CFF45"/>
                </a:solidFill>
              </a:rPr>
              <a:t>3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52D369C-D432-41A4-AFE8-EBEC19C6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956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Бонусы корректируются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780D9BD-D5BC-4C7F-B382-DE80ED32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480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личный, командный и развитие пересчитываются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0DF56E1-1F1B-4CC7-82A8-CCA91E96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190750"/>
            <a:ext cx="2000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2C7D6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8126DA8-4615-4653-A600-32F8621B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4003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CFF45"/>
                </a:solidFill>
              </a:defRPr>
            </a:pPr>
            <a:r>
              <a:rPr sz="1950" b="1">
                <a:solidFill>
                  <a:srgbClr val="8CFF45"/>
                </a:solidFill>
              </a:rPr>
              <a:t>4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8177462-0AB4-4175-A258-A71EB386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8956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Баланс обновляется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0517185-866A-4E5A-BB85-EF3F8DC4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4480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если выплата уже была - появляется минус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7A19E61-BE17-4998-B375-0F91A4B2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57750"/>
            <a:ext cx="64389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80F0F"/>
          </a:solidFill>
          <a:ln xmlns:a="http://schemas.openxmlformats.org/drawingml/2006/main" w="11906">
            <a:solidFill>
              <a:srgbClr val="FF6B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C7A9FE0-B9E9-4A65-89F1-983715AD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2445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D7E0DC"/>
                </a:solidFill>
              </a:defRPr>
            </a:pPr>
            <a:r>
              <a:rPr sz="1425">
                <a:solidFill>
                  <a:srgbClr val="D7E0DC"/>
                </a:solidFill>
              </a:rPr>
              <a:t>Пример: партнёр получил $90. Покупатель сделал возврат. На балансе появляется корректировка -$90.</a:t>
            </a:r>
          </a:p>
        </p:txBody>
      </p:sp>
    </p:spTree>
    <p:extLst>
      <p:ext uri="{BB962C8B-B14F-4D97-AF65-F5344CB8AC3E}">
        <p14:creationId xmlns:p14="http://schemas.microsoft.com/office/powerpoint/2010/main" val="7813994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2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1A0F87-79ED-4391-9512-F30AB81E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2FCD1-19FF-4AD4-B55B-2A2630C9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A59DE-0E82-4091-9D4D-57AC3411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5F7D7-2E24-47AE-91F4-8DDAF093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072D1-6BFE-4661-9F16-6DF4DCD2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5F434-9A49-4D76-AD8F-6D4BC9E4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8B24F-FBB6-4342-A209-647BE3A0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56212-CA21-4FF9-A99C-0499F927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D6275-D1AB-40B3-9A86-3A541CFE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E8B91-0918-40E0-8C36-6B141AE4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792A4-27F6-4E84-A3A1-C313ADEE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90CD4-F273-42C1-A600-EC2A8DFB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A46FA-38E2-4796-A254-7336A540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2E08D-D50B-49D3-A47B-07A31734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0AD94-6585-4647-83A5-02791AD8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6624EE-72CB-496E-8202-5E6F6C87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D61AEF-5735-4FBA-ACFF-3958081A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DE5282-C550-4DEC-AE97-C968D61A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E1B605-0D5D-4B6A-801E-B65E5B2A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0F93F8-38DB-4E6D-93F6-F111B179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1558D7-3244-4DEC-B093-AEEECA20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1E9C5C-A54A-40BD-8491-8868AA1A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92FDEE-643A-47BF-923A-E0F3968C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8BEECF-F739-482E-9CBE-DCF4CFF6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B8702F-E52A-4771-A6C6-FF2F6F9B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150AF6-6981-4BAE-98F6-2DD87CFE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FE59A0-8A55-431E-9ACC-D91513F1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4C9C93-EB8D-4E9E-8541-DB0CCA39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6EF13A-24FD-4640-8FDF-48DCF022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9B96CC-ED89-4CA3-9C48-2F5C070D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9FC965-DD86-4219-B521-16EF720C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9D4A47-1BA0-4EBE-98D8-07917E86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05C949-F127-47CE-AAE1-4310D999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6D630D-6B2B-42D0-9B5A-AFB3952C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15CC17-E7A4-4D01-9F5C-E0360379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7E68DE-B561-4A00-97DE-DC70D86A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8C7C74-F9B0-40C0-849E-319F4718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510717-F5F3-4641-96F6-4B49203B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5E4771-07F3-45ED-80D5-0EFD65A3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60D081-9A5F-41C1-A0C0-D5EB6BCE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D7CEFA-6653-433D-A089-13D0DB50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6CCC91-BBB0-47F6-8321-E4408572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15371C-F678-4074-B1D3-34755415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EC713B-E721-4232-9669-4DA379F0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1208C7-3F52-4867-B290-3C6DC748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C9EDA2-5EB9-4540-9197-A6DBC60F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33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CFF587-E874-4B44-98B4-838D0945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8B1918-AFF5-487E-B480-7945AFB0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57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B77EA97-C351-4190-93E5-DC726CA7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6B473B-71B3-44DA-B113-78FD6A3A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81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1A56CD-5BFC-4A59-B268-FC817754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E10CDE-4B4D-4840-8F89-DEA19819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AA8306D-00FD-4D44-9592-59C3294C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41F337-6828-495A-9242-7CD8994F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FCC784A-4325-41C1-A03E-E12FDEAF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F4E3030-5F82-42E7-BF1F-DA211BF9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9C0AB55-BEE5-4A38-A059-61180737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D90E332-055C-4217-8502-C154E9D3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2C4D1EA-29C1-4753-9910-291DE5AA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5B903A2-28FC-48F9-8471-24FE0510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BA6CF15-C4D3-4273-89B4-3930C0AC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FBAD212-BD7D-4366-9038-9CECABB6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CFE3F6F-FB55-4192-ADFE-0F36273D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07695E-8EA5-48C3-93D2-0F32A7C0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7D93D69-8FCC-4C57-947F-866B2643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EF598BD-C10E-43C4-9AC0-01156AC4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531A455-BE68-4625-B133-F59384A3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0A2CA94-6497-477C-A6A5-F151C50D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4B64824-E086-420C-8C94-DAA25E6F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5F3675F-64A6-4109-9C15-F693E68C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5C18780-5B39-4F42-B6D2-5998C864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22691FF-A6E1-4D52-82F9-42E3E25E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9906000" cy="3143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78D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70A1225-FD01-45CD-8CB7-D48CC2DE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7200"/>
            <a:ext cx="9906000" cy="2667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8CFF4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4019F99-E6E4-4578-B32B-BCE564B3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66750"/>
            <a:ext cx="8763000" cy="2095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C2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17D3586-083B-49A8-A0E7-121B1634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514170F-3EDD-4090-A15B-F7EA1E85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0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D2E8B43-D974-41A7-9D61-9CBD3054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19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941C132-17A4-4A25-9128-E2ABBD3A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C3B5A0C-7A2E-4D3B-8608-1E52C13E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BBB5"/>
                </a:solidFill>
              </a:defRPr>
            </a:pPr>
            <a:r>
              <a:rPr sz="1200">
                <a:solidFill>
                  <a:srgbClr val="AEBBB5"/>
                </a:solidFill>
              </a:rPr>
              <a:t>16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3C55A4B-56D7-41C9-9211-A37CF039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5259CCD-8294-46FA-B87B-1FD097E3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CFF45"/>
                </a:solidFill>
              </a:defRPr>
            </a:pPr>
            <a:r>
              <a:rPr sz="1050" b="1">
                <a:solidFill>
                  <a:srgbClr val="8CFF45"/>
                </a:solidFill>
              </a:rPr>
              <a:t>КОНТРОЛЬНАЯ ФИНМОДЕЛЬ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A94E413-54EE-4513-84EB-1B71A1C9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5FBF7"/>
                </a:solidFill>
              </a:defRPr>
            </a:pPr>
            <a:r>
              <a:rPr sz="2850" b="1">
                <a:solidFill>
                  <a:srgbClr val="F5FBF7"/>
                </a:solidFill>
              </a:rPr>
              <a:t>СТРЕСС-ТЕСТ ПОКАЗЫВАЕТ КОНТРОЛИРУЕМУЮ ДОЛЮ ВЫПЛАТ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A39548B-0206-4F3B-A1C9-13EB9139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790700"/>
            <a:ext cx="18859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8CF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B9FB2F9-5038-48F1-8420-3EBD37C0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9525">
            <a:solidFill>
              <a:srgbClr val="8CFF4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2000452-5F82-4EA4-B9EF-8A4C496B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193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Выручка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248DCA5-DBF2-4272-B9AA-2CD6425D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1457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BF7"/>
                </a:solidFill>
              </a:defRPr>
            </a:pPr>
            <a:r>
              <a:rPr sz="2325" b="1">
                <a:solidFill>
                  <a:srgbClr val="F5FBF7"/>
                </a:solidFill>
              </a:rPr>
              <a:t>$1 200 000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C592012-A533-4250-8365-C2D35DEE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43200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4 000 × $300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0328569-EEB2-46D5-8B1B-D4EB13DE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90700"/>
            <a:ext cx="18859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16B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915261D-7724-40A3-A6C9-0F9B7AA2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9525">
            <a:solidFill>
              <a:srgbClr val="16B8F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F18EB1C-5AB4-4251-9E7C-791FC49A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193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Личные бонусы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0CFCD73-A157-4CF3-947C-B84508C1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1457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BF7"/>
                </a:solidFill>
              </a:defRPr>
            </a:pPr>
            <a:r>
              <a:rPr sz="2325" b="1">
                <a:solidFill>
                  <a:srgbClr val="F5FBF7"/>
                </a:solidFill>
              </a:rPr>
              <a:t>$360 000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96133FF-5BDD-421C-81E6-DBFD66AB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43200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30.00%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16591C9-92B0-4C5A-9725-08BBEDD3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90700"/>
            <a:ext cx="18859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FFD1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12AA92F-927C-4EE0-95DE-D67CA0FF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44A528C-C991-4AEA-8B48-C96E04C1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193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Командные бонусы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B08CC42-B13E-47CB-8A3C-AA82D48E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1457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BF7"/>
                </a:solidFill>
              </a:defRPr>
            </a:pPr>
            <a:r>
              <a:rPr sz="2325" b="1">
                <a:solidFill>
                  <a:srgbClr val="F5FBF7"/>
                </a:solidFill>
              </a:rPr>
              <a:t>$79 920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82ABF2D-593D-44F4-A2BE-CC9FC618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43200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6.66%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5670189-82E5-47A3-9E2A-4ADC9410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90700"/>
            <a:ext cx="18859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278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05CC84D-17A1-443C-9B05-0DBC8917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9525">
            <a:solidFill>
              <a:srgbClr val="278DF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36AE7BD-95DD-4FF3-BA82-27B857CA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193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Бонус развития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AAE2571-DA63-44CD-97B2-A275942F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1457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BF7"/>
                </a:solidFill>
              </a:defRPr>
            </a:pPr>
            <a:r>
              <a:rPr sz="2325" b="1">
                <a:solidFill>
                  <a:srgbClr val="F5FBF7"/>
                </a:solidFill>
              </a:rPr>
              <a:t>$12 055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79BFEB5-42F4-4E27-A0CA-0E5FA967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43200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1.00%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CACCC29-EC71-41D2-AE25-B4FA3E18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62300"/>
            <a:ext cx="18859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278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C03E44A-26AF-47AC-A824-61D68B54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90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9525">
            <a:solidFill>
              <a:srgbClr val="278DF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BCFC8B5-402C-4911-940A-BB9480A5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909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Быстрый старт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E0E37A7-3337-429D-824E-641F8B70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8617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BF7"/>
                </a:solidFill>
              </a:defRPr>
            </a:pPr>
            <a:r>
              <a:rPr sz="2325" b="1">
                <a:solidFill>
                  <a:srgbClr val="F5FBF7"/>
                </a:solidFill>
              </a:rPr>
              <a:t>$23 250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6108F18-8E24-464D-A87E-1F5D65CD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14800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1.94%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BE1613A-D6E0-41B9-AD57-39AA8F1C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62300"/>
            <a:ext cx="18859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FFD1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3DBA30A-A0D5-4A14-8FEB-80F99ADC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90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354F1D1-0924-4E3F-BAC5-4A0A92F0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909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Статусные бонусы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E50A4B2-DE98-4030-B28D-1C4B72AE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8617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BF7"/>
                </a:solidFill>
              </a:defRPr>
            </a:pPr>
            <a:r>
              <a:rPr sz="2325" b="1">
                <a:solidFill>
                  <a:srgbClr val="F5FBF7"/>
                </a:solidFill>
              </a:rPr>
              <a:t>$26 300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5BEBF61-4DC6-4C2D-876B-282956ED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14800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2.19%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23413E4-22A4-466C-B1B0-695C5DFE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62300"/>
            <a:ext cx="18859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16B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B2CAFD0-ED14-45A0-A147-29FD0874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90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9525">
            <a:solidFill>
              <a:srgbClr val="16B8FF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2D8D506-F6FD-4584-AEA8-831F8D17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Резерв фондов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26BECA6-0D68-4E2C-BCA6-49CF1D08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8617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BF7"/>
                </a:solidFill>
              </a:defRPr>
            </a:pPr>
            <a:r>
              <a:rPr sz="2325" b="1">
                <a:solidFill>
                  <a:srgbClr val="F5FBF7"/>
                </a:solidFill>
              </a:rPr>
              <a:t>$36 000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3C53C24-9F13-47B2-9AA1-9643D141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14800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3.00%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803ED2A-D468-4F7D-90C0-DD96CFD4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62300"/>
            <a:ext cx="18859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8CF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5EA2C88-5812-4047-8975-BA7CB8EF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90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9525">
            <a:solidFill>
              <a:srgbClr val="8CFF4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093F0B9-3407-492D-BE59-B86E21BF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909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Остаётся компании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A6DE68D-4552-4580-B137-1607AC41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86175"/>
            <a:ext cx="93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BF7"/>
                </a:solidFill>
              </a:defRPr>
            </a:pPr>
            <a:r>
              <a:rPr sz="2325" b="1">
                <a:solidFill>
                  <a:srgbClr val="F5FBF7"/>
                </a:solidFill>
              </a:rPr>
              <a:t>$662 475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5DF4967-9EB2-4968-9C4E-21DF8B2F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14800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55.21% до расходов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245F738-7813-4791-9DC0-51223DE5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76800"/>
            <a:ext cx="8153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B1511"/>
          </a:solidFill>
          <a:ln xmlns:a="http://schemas.openxmlformats.org/drawingml/2006/main" w="11906">
            <a:solidFill>
              <a:srgbClr val="8CF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185B4F8-B715-4EA6-BC5D-0648C93B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143500"/>
            <a:ext cx="716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E0DC"/>
                </a:solidFill>
              </a:defRPr>
            </a:pPr>
            <a:r>
              <a:rPr sz="1650" b="1">
                <a:solidFill>
                  <a:srgbClr val="D7E0DC"/>
                </a:solidFill>
              </a:rPr>
              <a:t>Выплаты + резерв составляют около 44.79%. Компании остаётся около 55.21% до операционных расходов.</a:t>
            </a:r>
          </a:p>
        </p:txBody>
      </p:sp>
    </p:spTree>
    <p:extLst>
      <p:ext uri="{BB962C8B-B14F-4D97-AF65-F5344CB8AC3E}">
        <p14:creationId xmlns:p14="http://schemas.microsoft.com/office/powerpoint/2010/main" val="4672629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2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560AB0-22A9-4AE9-B9E7-F1B18800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8285D-3347-4F2D-99C6-99CF4598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42673-0C87-4132-BD8F-2D115C08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76CF8-9C02-468B-A591-E944BEE5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868BA-5B62-4F5D-B418-A4BB836B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250D2-26C6-4A4A-B2DD-0521504F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ADE2F-85FD-4773-9385-C937116C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12C3F-7B55-4862-A1D5-F7B6B642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1402D-4A12-45AD-AE51-6816F808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69B33-D50A-4E2C-8395-AFF635D9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62548-5C3E-4466-8D2D-1872C349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8ED95-B85B-4055-AAEA-E810AAC0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8B8EE-9395-465C-B201-DF2F29B4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965F17-4A21-47AD-9941-AB77ED0E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50A1E7-5CC4-449D-9C18-DA064E6A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2B1E6-CCA3-4F10-B25F-565483EA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361E1C-1973-4ECF-A43E-A54C9878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D0AC32-F40C-40FD-9696-E3967D43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5AAABD-96F6-4C17-A762-19190384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0950F4-F471-4507-865C-6C403BB5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63FCF1-F3B3-4CCC-9B32-CB138BF6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1990BD-A79A-410C-83F6-3230683E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5433CA-358E-4524-B045-035FF7A7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2D83AE-B1E1-4EFA-8F3D-0ADAB1EC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0624D0-3CF4-4AFD-9BD2-C1950650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2A2B6F-BABC-4DD5-B194-019910CB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C0BB58-379B-4BD4-ADC5-8D9CC758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3925F5-ADD5-4BDC-B747-C4252C2D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588148-053E-4D0E-8C97-A7D52201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44FBF3-8AFE-4F87-AED3-7B9BF436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73A2FB-DD88-4613-8F5E-AA073874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AFA404-0629-4DC5-906C-B0FA31B0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E1A3D5-E10E-4564-B62C-AF2A0A4C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C4D899-EECB-4B20-A7FF-D5D33168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1B6715-4058-4980-ADCF-1A2EAACE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01A7FC-AA58-4432-83BA-A1FEF57A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309EE9-9B62-4A71-B7E1-61ACC980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2BE52E-9356-4912-B613-9ABB81FD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F63A2F-320B-4E35-825B-B47A0066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8F50F1-3DAD-4118-88F4-F4489F6A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DB9DB8-287B-4DBD-8AC5-4DFC6A3E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9670FD-6D99-4838-B0FA-2DE3A99D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5B74D6-4411-4B79-9F9C-992A420C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26895A-17F2-4733-9ED1-A596F88F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F0669E-3A08-410E-90B0-BF89B59D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33E53C-2161-45E1-A6ED-23CA738F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33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C087A8-2F23-4F5C-9BAA-DF30D4BA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D4C6D1-A345-4FE4-AF16-F1BDFB10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57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9DFF3B-E47F-47E2-BDE7-0444E283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08964F7-FCF8-412D-A1A5-22C6EA42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81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54B096-A187-4F92-95FB-D7D606EE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EFC149B-048A-44C0-A4FC-7EE451AA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EE6A65A-1477-46C3-9206-A1ACA502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16D4914-E745-4932-90F7-99053636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E6DF9F-25F9-46D6-9499-75D70FB2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E79C26A-CE07-41EF-A6CC-04993228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74BD0CE-6E5B-4C56-83D4-F1E984ED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AF148DE-AD6B-4C7B-9022-17A97ECA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BE89F5-BA56-41B7-B87D-EEA09DB5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0E51297-52B1-4AAE-AE7C-1FE77A1C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45078D3-9A14-44B0-AC34-FB7FC63C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A511C2F-903B-4063-A51B-DA1E9D93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596F2DC-3680-463F-B7D0-87DAA586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4F96B6B-7C38-4B7C-BEDC-FD313738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7449DAC-0A80-4797-8E3A-B78AB6AA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7D593ED-8A20-4061-83F8-4F8CA173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DB569F9-75B3-4F8B-BBBB-0796B410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B6B71D2-B8E6-4BEE-B295-133D9170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D958D7E-BF7C-4B86-8277-AC8B9A8F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D7F241B-2241-409F-84BA-D8339F17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C064A3E-4F1E-46E3-8D92-05099690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99E54C8-91AE-4801-9752-D6920A44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9906000" cy="3143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78D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F30038D-C683-499B-9CFE-187AD6F8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7200"/>
            <a:ext cx="9906000" cy="2667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8CFF4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388CF55-B0C7-4237-9471-635B76C6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66750"/>
            <a:ext cx="8763000" cy="2095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C2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1934000-7894-47F8-AB20-149A2BD6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E1C6B3A-57A8-45E3-95B5-7689308C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0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71B8EED-0453-4777-BD58-808DFF22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19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9F3224F-2DD0-4DD8-BE97-431A9F4C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829AFF9-F694-4BB9-BFBE-0C0B33B3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BBB5"/>
                </a:solidFill>
              </a:defRPr>
            </a:pPr>
            <a:r>
              <a:rPr sz="1200">
                <a:solidFill>
                  <a:srgbClr val="AEBBB5"/>
                </a:solidFill>
              </a:rPr>
              <a:t>17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172AC6C-D945-4663-8868-20A24806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6E5D972-A807-492F-AC12-101FFE15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CFF45"/>
                </a:solidFill>
              </a:defRPr>
            </a:pPr>
            <a:r>
              <a:rPr sz="1050" b="1">
                <a:solidFill>
                  <a:srgbClr val="8CFF45"/>
                </a:solidFill>
              </a:rPr>
              <a:t>ПРАВИЛА ДЛЯ СИСТЕМЫ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9BE7B58-FC7A-4CC5-8372-BB5095BA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5FBF7"/>
                </a:solidFill>
              </a:defRPr>
            </a:pPr>
            <a:r>
              <a:rPr sz="2850" b="1">
                <a:solidFill>
                  <a:srgbClr val="F5FBF7"/>
                </a:solidFill>
              </a:rPr>
              <a:t>ФИНАНСОВЫЙ ДВИЖОК ДОЛЖЕН СЧИТАТЬ ТОЛЬКО ПОДТВЕРЖДЁННЫЕ ОПЕРАЦИИ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04CDEDF-EE58-43D5-89CA-F46A4E0C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71650"/>
            <a:ext cx="8096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1233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CC1530E-998F-43CD-A65C-C8534520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914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CFF45"/>
                </a:solidFill>
              </a:defRPr>
            </a:pPr>
            <a:r>
              <a:rPr sz="1275" b="1">
                <a:solidFill>
                  <a:srgbClr val="8CFF45"/>
                </a:solidFill>
              </a:rPr>
              <a:t>01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59A5AB2-7342-42D3-B6E0-528CB53B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95475"/>
            <a:ext cx="674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Все расчёты ведутся в USD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3252124-EBB2-45C5-97EE-2486392B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00300"/>
            <a:ext cx="8096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71316"/>
          </a:solidFill>
          <a:ln xmlns:a="http://schemas.openxmlformats.org/drawingml/2006/main" w="11906">
            <a:solidFill>
              <a:srgbClr val="1233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9B38A5C-E24C-493C-9220-882D83FD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5431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CFF45"/>
                </a:solidFill>
              </a:defRPr>
            </a:pPr>
            <a:r>
              <a:rPr sz="1275" b="1">
                <a:solidFill>
                  <a:srgbClr val="8CFF45"/>
                </a:solidFill>
              </a:rPr>
              <a:t>02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23E93C8-8E74-4F57-AB22-ACDF4CDC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24125"/>
            <a:ext cx="674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Каждая операция пишется в журнал начислений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0973CC1-B597-45AD-8507-8162D5F9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28950"/>
            <a:ext cx="8096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1233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ABB01DD-1497-4E53-AED1-21296A2C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718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CFF45"/>
                </a:solidFill>
              </a:defRPr>
            </a:pPr>
            <a:r>
              <a:rPr sz="1275" b="1">
                <a:solidFill>
                  <a:srgbClr val="8CFF45"/>
                </a:solidFill>
              </a:rPr>
              <a:t>03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08C4254-2317-4D36-AADA-64335884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52775"/>
            <a:ext cx="674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PV и бонусы не считаются на лету из текущего дерева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DF5C7D0-9C74-4C49-93AC-CB53AC80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57600"/>
            <a:ext cx="8096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71316"/>
          </a:solidFill>
          <a:ln xmlns:a="http://schemas.openxmlformats.org/drawingml/2006/main" w="11906">
            <a:solidFill>
              <a:srgbClr val="1233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E42E816-395F-45D8-8409-2C27A0BC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004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CFF45"/>
                </a:solidFill>
              </a:defRPr>
            </a:pPr>
            <a:r>
              <a:rPr sz="1275" b="1">
                <a:solidFill>
                  <a:srgbClr val="8CFF45"/>
                </a:solidFill>
              </a:rPr>
              <a:t>04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EAC1011-2B33-4C5F-A2F4-E8D4F9AC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81425"/>
            <a:ext cx="674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У операции есть статус: ожидание, подтверждено, отменено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9B537FA-1A2E-447E-8A20-081DB2AD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86250"/>
            <a:ext cx="8096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1233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F95C5A4-1799-471C-A11E-E68322CF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291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CFF45"/>
                </a:solidFill>
              </a:defRPr>
            </a:pPr>
            <a:r>
              <a:rPr sz="1275" b="1">
                <a:solidFill>
                  <a:srgbClr val="8CFF45"/>
                </a:solidFill>
              </a:rPr>
              <a:t>05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C14ABF5-AE8B-4667-80E7-B5F78491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10075"/>
            <a:ext cx="674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Возвраты создают обратные корректировки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41EDD54-613F-4A34-8949-17C2476A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14900"/>
            <a:ext cx="80962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71316"/>
          </a:solidFill>
          <a:ln xmlns:a="http://schemas.openxmlformats.org/drawingml/2006/main" w="11906">
            <a:solidFill>
              <a:srgbClr val="12334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5CF9CB9-56D2-4C5C-AF1D-14BEE9CE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0577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CFF45"/>
                </a:solidFill>
              </a:defRPr>
            </a:pPr>
            <a:r>
              <a:rPr sz="1275" b="1">
                <a:solidFill>
                  <a:srgbClr val="8CFF45"/>
                </a:solidFill>
              </a:rPr>
              <a:t>06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D0BDA66-8645-4FC1-9C1D-AF953964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38725"/>
            <a:ext cx="674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7E0DC"/>
                </a:solidFill>
              </a:defRPr>
            </a:pPr>
            <a:r>
              <a:rPr sz="1350">
                <a:solidFill>
                  <a:srgbClr val="D7E0DC"/>
                </a:solidFill>
              </a:rPr>
              <a:t>Вывод доступен только после проверки и верификации</a:t>
            </a:r>
          </a:p>
        </p:txBody>
      </p:sp>
    </p:spTree>
    <p:extLst>
      <p:ext uri="{BB962C8B-B14F-4D97-AF65-F5344CB8AC3E}">
        <p14:creationId xmlns:p14="http://schemas.microsoft.com/office/powerpoint/2010/main" val="14683956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2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300258-EA09-49ED-A70E-D3EF7136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F6F80-3A59-4241-ADD8-FBD130F2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01781-1315-45FA-8E51-08BEF8D5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5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F1652-B27A-48CD-A9CA-19BA3EFF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D00C7-5AA6-47C5-96FF-26DD0105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5BB77-5D50-4D51-8F35-40FBE1DB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95CB7-6658-467E-9CD3-16B6C1B6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44BEF-E1AC-41B7-8ACF-EB6E9506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EF33D-632E-4D1B-A229-8EB76E95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35CC6-C330-4663-B2C2-72D917FD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C2FF01-3E32-40CD-8D53-068BFF33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E5110-7B77-464E-8AA6-289070C8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9E93BB-0177-4A96-A787-9CA45CF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891BAE-43C6-409F-A360-EDBE19A9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6E722E-4E47-4911-BC3C-21685B8E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F0EC2-D4B8-478F-ACB0-6C0D929D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1C49B-BCBC-46F0-B589-4FFBAB6A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C29E0B-27EC-4B04-AC5C-14D560E9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646BDE-7C7F-49D3-916F-2ACE7DEC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DC0633-26BB-43E0-B380-B0D0FD2E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259B4A-1676-47D1-9FF8-46B66EAC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EC19CF-8877-4A72-9FF8-F0415AD8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59ABE1-1760-482F-B4AC-6B0B70F1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8B31AD-26CB-4DBA-93A9-09C6B663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6D2427-D053-425E-9012-D74C45DF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0A29FF-52A0-4430-AA43-EF06F710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3C0924-559A-41D9-A501-7575D49C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BB039E-D4FE-474B-B760-CB964D2C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5093F3-3B2D-45FF-A74F-AD1E1A65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98EACE-5F6E-440A-B79C-4E595C5D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686CE9-A8CF-4D9B-86D9-84B55C0D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18F93E-A67D-4116-99D9-EAC0551A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098787-D606-4CC7-93E9-F60FAE53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A07474-72AF-44FE-8FD6-A6CF53B0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235E97-3996-4A45-9C98-328DEAC1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62FE28-F488-4158-9875-836A8A8E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798358-B7A9-434A-9D36-61AAE293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FE8E6C-868D-4E49-B80B-1B36C9FF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7664E7-7776-463B-A1A8-423D5382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635745-2E2B-4452-8F33-EBDAA937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5FD79A-AF14-4C82-AE7C-355EB985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54EB72-D27C-446D-9EE1-B5F9C9AD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5C8654-CDC4-4046-89A7-A20303B9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65A5E7-7006-4A76-9A56-A5F4816A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E94FFE-292E-41F4-A94F-11A249CD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CA1CBE-F82E-4DC3-913B-3E271A0D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33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A1C07A-0CF9-4D39-9520-B3FBC25E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45BA3C-5A6D-4B12-881B-F782636B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575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872EDCB-73BA-427C-B9B3-5B3C93C9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AC4DF4-2236-4B11-95F6-3E6B07F2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81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080671D-929D-4471-B945-9A8F7AE8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2BD006-517F-48F0-8351-E9B148FB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05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BC99618-266E-41FA-884D-29B74053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3D3940-12DC-4229-B0DE-68585CE6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59815F6-62F4-4029-8E7B-A6F73689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CA7248C-BE81-49BE-BF97-D06C934D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D512115-B8DE-473B-98AC-73FE7921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502EE5-ECD9-4F43-9FC7-0988F764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DE17E78-1947-40B5-9233-1337B848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0F28F03-2CA3-4E66-9A82-3BBDD333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42A7CC3-95E5-481B-A752-778D92C3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4B1714B-EA27-4E60-9DA2-04959B5F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38C502E-29EC-477A-9A88-CD645AA2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E8FC20E-E0E4-4EDE-83D4-344F8938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D3596D3-9B59-409D-91B8-E7E31CF5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EDF4AED-F11F-4C2E-A257-3DBB5662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CFF1AB1-1874-46E4-963D-36562A41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4145672-623F-458D-AB46-B6238B4A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35186FF-4146-4B23-B933-A2C301E9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6642AD3-8E6C-4406-B620-97630383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ABA3965-97B0-4BFC-B7B8-26FA95C9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A15A3C0-444D-4BB8-8358-BFA182DF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9906000" cy="31432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78D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CB49146-031C-43C5-994F-A6799CFA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7200"/>
            <a:ext cx="9906000" cy="26670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8CFF4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A96CCB9-A7D1-45E9-B44C-3E1068C4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66750"/>
            <a:ext cx="8763000" cy="2095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C2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2BA93A5-AE3A-49AB-B313-D4DD3023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A783548-8632-41EC-A507-32F660E9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0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A9718B0-43B7-4954-8497-FD234F17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19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F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BDED913-711C-4CDE-9E4A-ECFB83B5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458FF99-3687-4073-B9EF-AC0787BD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BBB5"/>
                </a:solidFill>
              </a:defRPr>
            </a:pPr>
            <a:r>
              <a:rPr sz="1200">
                <a:solidFill>
                  <a:srgbClr val="AEBBB5"/>
                </a:solidFill>
              </a:rPr>
              <a:t>18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CCB9356-A728-4EBA-BA9C-D1692D57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AEBBB5"/>
                </a:solidFill>
              </a:defRPr>
            </a:pPr>
            <a:r>
              <a:rPr sz="1050">
                <a:solidFill>
                  <a:srgbClr val="AEBBB5"/>
                </a:solidFill>
              </a:rPr>
              <a:t>Версия 2.0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4049038-4913-467F-9E41-E1DB603C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CFF45"/>
                </a:solidFill>
              </a:defRPr>
            </a:pPr>
            <a:r>
              <a:rPr sz="1050" b="1">
                <a:solidFill>
                  <a:srgbClr val="8CFF45"/>
                </a:solidFill>
              </a:rPr>
              <a:t>ФИНАЛЬНАЯ СХЕМА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FF90E0D-D3AC-4F57-9172-51A071C6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5FBF7"/>
                </a:solidFill>
              </a:defRPr>
            </a:pPr>
            <a:r>
              <a:rPr sz="2850" b="1">
                <a:solidFill>
                  <a:srgbClr val="F5FBF7"/>
                </a:solidFill>
              </a:rPr>
              <a:t>CODE СВОДИТСЯ К ПОНЯТНОЙ ФОРМУЛЕ ВЫПЛАТ И КОНТРОЛЯ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6D9D621-4138-4382-A001-27CB108B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809750"/>
            <a:ext cx="1847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71316"/>
          </a:solidFill>
          <a:ln xmlns:a="http://schemas.openxmlformats.org/drawingml/2006/main" w="11906">
            <a:solidFill>
              <a:srgbClr val="2C7D6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F3E71FA-BECA-41AF-BC2F-093807B0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038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CODE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82893EC-63F4-4679-BB21-53203278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3812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CFF45"/>
                </a:solidFill>
              </a:defRPr>
            </a:pPr>
            <a:r>
              <a:rPr sz="1875" b="1">
                <a:solidFill>
                  <a:srgbClr val="8CFF45"/>
                </a:solidFill>
              </a:rPr>
              <a:t>$50 / мес.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44B62AB-9FFB-4E27-B81D-F10830B6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7432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BBB5"/>
                </a:solidFill>
              </a:defRPr>
            </a:pPr>
            <a:r>
              <a:rPr sz="1200">
                <a:solidFill>
                  <a:srgbClr val="AEBBB5"/>
                </a:solidFill>
              </a:rPr>
              <a:t>$10 + 1 PV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6DD2CF5-A3F8-4C0D-A259-B71E902D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1847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83123"/>
          </a:solidFill>
          <a:ln xmlns:a="http://schemas.openxmlformats.org/drawingml/2006/main" w="11906">
            <a:solidFill>
              <a:srgbClr val="8CF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4D11E47-6BB2-4C13-9BAC-1354DCD1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38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PRO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A1D5EE3-6B99-4060-BA1E-1A6B6A60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812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CFF45"/>
                </a:solidFill>
              </a:defRPr>
            </a:pPr>
            <a:r>
              <a:rPr sz="1875" b="1">
                <a:solidFill>
                  <a:srgbClr val="8CFF45"/>
                </a:solidFill>
              </a:rPr>
              <a:t>$300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1DF1E47-08A3-4BB9-AD4E-6493DB1F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432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BBB5"/>
                </a:solidFill>
              </a:defRPr>
            </a:pPr>
            <a:r>
              <a:rPr sz="1200">
                <a:solidFill>
                  <a:srgbClr val="AEBBB5"/>
                </a:solidFill>
              </a:rPr>
              <a:t>$90 + 10 PV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DAE36FA-1DDD-4972-A1BB-28636E54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1847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71316"/>
          </a:solidFill>
          <a:ln xmlns:a="http://schemas.openxmlformats.org/drawingml/2006/main" w="11906">
            <a:solidFill>
              <a:srgbClr val="2C7D6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236FDA6-EEEE-44AA-BF39-41051CDF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VIP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D3FAFAD-5768-4F88-8BB9-81666388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CFF45"/>
                </a:solidFill>
              </a:defRPr>
            </a:pPr>
            <a:r>
              <a:rPr sz="1875" b="1">
                <a:solidFill>
                  <a:srgbClr val="8CFF45"/>
                </a:solidFill>
              </a:rPr>
              <a:t>$900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EC8F39F-EF2A-4A72-8BDE-66923407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432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BBB5"/>
                </a:solidFill>
              </a:defRPr>
            </a:pPr>
            <a:r>
              <a:rPr sz="1200">
                <a:solidFill>
                  <a:srgbClr val="AEBBB5"/>
                </a:solidFill>
              </a:rPr>
              <a:t>$270 + 30 PV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C69BADE-CAA1-4DC2-85DC-7673E785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1847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71316"/>
          </a:solidFill>
          <a:ln xmlns:a="http://schemas.openxmlformats.org/drawingml/2006/main" w="11906">
            <a:solidFill>
              <a:srgbClr val="2C7D6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7B02D36-B5C7-451B-9742-21552D3D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38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BF7"/>
                </a:solidFill>
              </a:defRPr>
            </a:pPr>
            <a:r>
              <a:rPr sz="1500" b="1">
                <a:solidFill>
                  <a:srgbClr val="F5FBF7"/>
                </a:solidFill>
              </a:rPr>
              <a:t>Подписка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E0CB167-70D1-4B8B-A0AF-96166796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812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CFF45"/>
                </a:solidFill>
              </a:defRPr>
            </a:pPr>
            <a:r>
              <a:rPr sz="1875" b="1">
                <a:solidFill>
                  <a:srgbClr val="8CFF45"/>
                </a:solidFill>
              </a:rPr>
              <a:t>$50 / мес.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931DCE6-F5BA-4590-8705-CCFA8137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432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EBBB5"/>
                </a:solidFill>
              </a:defRPr>
            </a:pPr>
            <a:r>
              <a:rPr sz="1200">
                <a:solidFill>
                  <a:srgbClr val="AEBBB5"/>
                </a:solidFill>
              </a:rPr>
              <a:t>$10 + 1 PV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0025C3E-9AAF-4EBA-A747-1A6AE1FB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57600"/>
            <a:ext cx="1905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8CFF4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A3C3A71-3676-438F-B48A-814E907E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86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9525">
            <a:solidFill>
              <a:srgbClr val="8CFF4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21E5B24-D1F4-419C-B8EB-8534F150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862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за закрытый PV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200A06F-9CDD-4175-8D07-1F7B3DD0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8147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BF7"/>
                </a:solidFill>
              </a:defRPr>
            </a:pPr>
            <a:r>
              <a:rPr sz="2325" b="1">
                <a:solidFill>
                  <a:srgbClr val="F5FBF7"/>
                </a:solidFill>
              </a:rPr>
              <a:t>$1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C41F05B-A31D-447D-A24C-D89D9771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57600"/>
            <a:ext cx="1905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16B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34A5577-EF89-4D60-9193-5FE948B2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86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9525">
            <a:solidFill>
              <a:srgbClr val="16B8F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368A437-27F7-49EB-A232-6FED688D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862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бонус развития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9F96FB3-730C-46D1-9C9C-2645DD45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8147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BF7"/>
                </a:solidFill>
              </a:defRPr>
            </a:pPr>
            <a:r>
              <a:rPr sz="2325" b="1">
                <a:solidFill>
                  <a:srgbClr val="F5FBF7"/>
                </a:solidFill>
              </a:rPr>
              <a:t>5 линий × 5%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3A195F6-A641-41F9-9F7C-C417A9E1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57600"/>
            <a:ext cx="1905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16B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D9F7B3C-E017-4CA9-8CC7-9D68F946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86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9525">
            <a:solidFill>
              <a:srgbClr val="16B8F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24363FC-A029-4506-8F69-E4F0786A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862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быстрый старт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74A3127-2646-48C4-901E-3BF035A6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8147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BF7"/>
                </a:solidFill>
              </a:defRPr>
            </a:pPr>
            <a:r>
              <a:rPr sz="2325" b="1">
                <a:solidFill>
                  <a:srgbClr val="F5FBF7"/>
                </a:solidFill>
              </a:rPr>
              <a:t>$150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807108A-BD29-42CD-A4EE-7328D880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57600"/>
            <a:ext cx="1905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16B8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F55C09F-68EB-45EC-9E64-1D93152D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86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9525">
            <a:solidFill>
              <a:srgbClr val="16B8F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632691A-59D4-4689-A2CB-99125B79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862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фонды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CB8EC7A-0C20-4061-B56D-C925B397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8147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BF7"/>
                </a:solidFill>
              </a:defRPr>
            </a:pPr>
            <a:r>
              <a:rPr sz="2325" b="1">
                <a:solidFill>
                  <a:srgbClr val="F5FBF7"/>
                </a:solidFill>
              </a:rPr>
              <a:t>1% + 1% + 1%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00DB3B3-CB16-4094-9265-CA5102EE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10200"/>
            <a:ext cx="7810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A1A16"/>
          </a:solidFill>
          <a:ln xmlns:a="http://schemas.openxmlformats.org/drawingml/2006/main" w="11906">
            <a:solidFill>
              <a:srgbClr val="2C7D6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3A58F69-2515-4A18-BF8D-9C65D3E0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581650"/>
            <a:ext cx="701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BF7"/>
                </a:solidFill>
              </a:defRPr>
            </a:pPr>
            <a:r>
              <a:rPr sz="1650" b="1">
                <a:solidFill>
                  <a:srgbClr val="F5FBF7"/>
                </a:solidFill>
              </a:rPr>
              <a:t>Карьера: Резидент → Партнёр → Мастер → Лидер → Ментор → Визионер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85C29FB-152A-4AE2-8A4E-416844CD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134100"/>
            <a:ext cx="615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AEBBB5"/>
                </a:solidFill>
              </a:defRPr>
            </a:pPr>
            <a:r>
              <a:rPr sz="1125">
                <a:solidFill>
                  <a:srgbClr val="AEBBB5"/>
                </a:solidFill>
              </a:rPr>
              <a:t>Юридические формулировки, оферта и политика выплат оформляются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8754609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2026-07-09T11:23:38.4140000Z</dcterms:created>
  <dcterms:modified xsi:type="dcterms:W3CDTF">2026-07-09T11:23:38.4140000Z</dcterms:modified>
</coreProperties>
</file>